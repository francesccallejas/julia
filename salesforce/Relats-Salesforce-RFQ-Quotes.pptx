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8257d6a-9d92-47b6-bd9f-fa8c3b31d4d3}">
          <p14:sldIdLst>
            <p14:sldId id="256"/>
          </p14:sldIdLst>
        </p14:section>
        <p14:section name="Summary" id="{9450ab1b-58bf-f813-e766-ad1ad9138fba}">
          <p14:sldIdLst>
            <p14:sldId id="257"/>
          </p14:sldIdLst>
        </p14:section>
        <p14:section name="How the process runs" id="{efdc898d-62c2-581d-2c17-1274691c85f9}">
          <p14:sldIdLst>
            <p14:sldId id="258"/>
          </p14:sldIdLst>
        </p14:section>
        <p14:section name="What has to be filled" id="{5b60a819-6ea3-7d4d-d2c9-b8f520cb4ac7}">
          <p14:sldIdLst>
            <p14:sldId id="259"/>
          </p14:sldIdLst>
        </p14:section>
        <p14:section name="Step by step" id="{67bbb9c3-cf71-8fc7-36f6-4da34996cd36}">
          <p14:sldIdLst>
            <p14:sldId id="260"/>
            <p14:sldId id="261"/>
          </p14:sldIdLst>
        </p14:section>
        <p14:section name="Master data" id="{ce5f4135-13ec-98ad-2b01-b92b4c3b76da}">
          <p14:sldIdLst>
            <p14:sldId id="262"/>
          </p14:sldIdLst>
        </p14:section>
        <p14:section name="Open points" id="{e2a77f74-ce8e-776a-6f87-dab9b9ab8ffb}">
          <p14:sldIdLst>
            <p14:sldId id="263"/>
            <p14:sldId id="264"/>
          </p14:sldIdLst>
        </p14:section>
        <p14:section name="Next steps" id="{d71626c6-645e-63a4-ac33-76a86d2270a7}">
          <p14:sldIdLst>
            <p14:sldId id="265"/>
          </p14:sldIdLst>
        </p14:section>
        <p14:section name="Appendix · every field" id="{41ea32d4-9326-f572-e489-60adedcaf1bf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read of the v3 training manual, not of the Salesforce configuration. The org almost certainly enforces more than the manual documents — that gap is itself one of the findings.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on the last slide follows from points 3 and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manual is explicit that the RFQ should be created the day the enquiry arrives, because the time in each stage is measured from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1 to 4 are all documented. Step 5 is the first place the manual stops telling you what blocks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3 is the one that belongs in the Price &amp; Margin Strategy initiative.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66928" y="148132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300" kern="0" dirty="0">
                <a:solidFill>
                  <a:srgbClr val="FF5710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66928" y="1901952"/>
            <a:ext cx="969264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66928" y="3858768"/>
            <a:ext cx="8595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A8AE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66928" y="5907024"/>
            <a:ext cx="8595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spc="150" kern="0" dirty="0">
                <a:solidFill>
                  <a:srgbClr val="7A828A"/>
                </a:solidFill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pic>
        <p:nvPicPr>
          <p:cNvPr id="6" name="Image 0" descr="/home/user/Julia/salesforce/_src/deck/rel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475488"/>
            <a:ext cx="429768" cy="47548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4181C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3A4248"/>
                </a:solidFill>
              </a:defRPr>
            </a:lvl1pPr>
          </a:lstStyle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4" name="Text 0"/>
          <p:cNvSpPr/>
          <p:nvPr/>
        </p:nvSpPr>
        <p:spPr>
          <a:xfrm>
            <a:off x="566928" y="6400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AA1A8"/>
                </a:solidFill>
              </a:rPr>
              <a:t>Relats · RFQ &amp; Quotes · from the v3 training manual</a:t>
            </a:r>
            <a:endParaRPr lang="en-US" sz="950" dirty="0"/>
          </a:p>
        </p:txBody>
      </p:sp>
      <p:pic>
        <p:nvPicPr>
          <p:cNvPr id="5" name="Image 0" descr="/home/user/Julia/salesforce/_src/deck/rel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3696" y="6364224"/>
            <a:ext cx="274320" cy="3017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512064"/>
            <a:ext cx="1088136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225296"/>
            <a:ext cx="10058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A8AEB4"/>
                </a:solidFill>
              </a:defRPr>
            </a:lvl1pPr>
          </a:lstStyle>
          <a:p>
            <a:pPr algn="l" indent="0" marL="0">
              <a:buNone/>
            </a:pPr>
            <a:endParaRPr lang="en-US" sz="1350" dirty="0"/>
          </a:p>
        </p:txBody>
      </p:sp>
      <p:pic>
        <p:nvPicPr>
          <p:cNvPr id="4" name="Image 0" descr="/home/user/Julia/salesforce/_src/deck/rel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3696" y="6364224"/>
            <a:ext cx="274320" cy="30175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66928" y="14813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5710"/>
                </a:solidFill>
              </a:rPr>
              <a:t>SALESFORCE · SALES PROCESS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66928" y="1901952"/>
            <a:ext cx="9692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RFQ &amp; Quotes</a:t>
            </a:r>
            <a:pPr algn="l" indent="0" marL="0">
              <a:buNone/>
            </a:pP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5710"/>
                </a:solidFill>
              </a:rPr>
              <a:t>What we ask people to fill in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66928" y="3858768"/>
            <a:ext cx="8595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A8AEB4"/>
                </a:solidFill>
              </a:rPr>
              <a:t>Every field of the RFQ, Quote and Quote Line Item objects as the training manual defines them — and the twelve points the manual leaves open.</a:t>
            </a:r>
            <a:endParaRPr lang="en-US" sz="17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66928" y="590702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50" kern="0" dirty="0">
                <a:solidFill>
                  <a:srgbClr val="7A828A"/>
                </a:solidFill>
              </a:rPr>
              <a:t>PREPARED FOR THE REGIONAL DIRECTOR  ·  OCTOBER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In one page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What the review covered, and what needs a decision from you.</a:t>
            </a:r>
            <a:endParaRPr lang="en-US" sz="1350" dirty="0"/>
          </a:p>
        </p:txBody>
      </p:sp>
      <p:sp>
        <p:nvSpPr>
          <p:cNvPr id="4" name="sum-0"/>
          <p:cNvSpPr/>
          <p:nvPr/>
        </p:nvSpPr>
        <p:spPr>
          <a:xfrm>
            <a:off x="566928" y="1847088"/>
            <a:ext cx="11027664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5" name="disc-1"/>
          <p:cNvSpPr/>
          <p:nvPr/>
        </p:nvSpPr>
        <p:spPr>
          <a:xfrm>
            <a:off x="841248" y="2121408"/>
            <a:ext cx="384048" cy="38404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08176" y="1956816"/>
            <a:ext cx="4892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118 fields documented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64808" y="1956816"/>
            <a:ext cx="4855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RFQ, Quote and Quote Line Item, with what makes each one mandatory, which the system fills and which mirror the customer master data.</a:t>
            </a:r>
            <a:endParaRPr lang="en-US" sz="1250" dirty="0"/>
          </a:p>
        </p:txBody>
      </p:sp>
      <p:sp>
        <p:nvSpPr>
          <p:cNvPr id="9" name="sum-1"/>
          <p:cNvSpPr/>
          <p:nvPr/>
        </p:nvSpPr>
        <p:spPr>
          <a:xfrm>
            <a:off x="566928" y="2944368"/>
            <a:ext cx="11027664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0" name="disc-2"/>
          <p:cNvSpPr/>
          <p:nvPr/>
        </p:nvSpPr>
        <p:spPr>
          <a:xfrm>
            <a:off x="841248" y="3218688"/>
            <a:ext cx="384048" cy="38404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408176" y="3054096"/>
            <a:ext cx="4892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Only 9 fields are truly mandatory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64808" y="3054096"/>
            <a:ext cx="4855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process is light at entry and strict at the gates: six key fields block a stage change, and that is where quotes actually get stuck.</a:t>
            </a:r>
            <a:endParaRPr lang="en-US" sz="1250" dirty="0"/>
          </a:p>
        </p:txBody>
      </p:sp>
      <p:sp>
        <p:nvSpPr>
          <p:cNvPr id="14" name="sum-2"/>
          <p:cNvSpPr/>
          <p:nvPr/>
        </p:nvSpPr>
        <p:spPr>
          <a:xfrm>
            <a:off x="566928" y="4041648"/>
            <a:ext cx="11027664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5" name="disc-3"/>
          <p:cNvSpPr/>
          <p:nvPr/>
        </p:nvSpPr>
        <p:spPr>
          <a:xfrm>
            <a:off x="841248" y="4315968"/>
            <a:ext cx="384048" cy="384048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4151376"/>
            <a:ext cx="4892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Key fields are written down for 1 stage out of 12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4151376"/>
            <a:ext cx="4855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People discover the other eleven by hitting a red error. This is the cheapest, highest-value fix in the whole review.</a:t>
            </a:r>
            <a:endParaRPr lang="en-US" sz="1250" dirty="0"/>
          </a:p>
        </p:txBody>
      </p:sp>
      <p:sp>
        <p:nvSpPr>
          <p:cNvPr id="19" name="sum-3"/>
          <p:cNvSpPr/>
          <p:nvPr/>
        </p:nvSpPr>
        <p:spPr>
          <a:xfrm>
            <a:off x="566928" y="5138928"/>
            <a:ext cx="11027664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20" name="disc-4"/>
          <p:cNvSpPr/>
          <p:nvPr/>
        </p:nvSpPr>
        <p:spPr>
          <a:xfrm>
            <a:off x="841248" y="5413248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5248656"/>
            <a:ext cx="4892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 code with no minimum price passes approval at any price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5248656"/>
            <a:ext cx="4855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manual states it: no minimum means zero, and any price clears the control. Worth knowing how many quoted codes are in that position.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One RFQ, one quote, twelve stages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Part A moves freely. Once approved you are in part B, and changing anything that was approved means reopening the quote — back to Valoration, and a new approval.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8308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5710"/>
                </a:solidFill>
              </a:rPr>
              <a:t>PART A · BEFORE APPROVAL  ·  the quote can still be changed freely</a:t>
            </a:r>
            <a:endParaRPr lang="en-US" sz="1000" dirty="0"/>
          </a:p>
        </p:txBody>
      </p:sp>
      <p:sp>
        <p:nvSpPr>
          <p:cNvPr id="5" name="A0"/>
          <p:cNvSpPr/>
          <p:nvPr/>
        </p:nvSpPr>
        <p:spPr>
          <a:xfrm>
            <a:off x="566928" y="2066544"/>
            <a:ext cx="2660904" cy="877824"/>
          </a:xfrm>
          <a:prstGeom prst="roundRect">
            <a:avLst>
              <a:gd name="adj" fmla="val 8333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21579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710"/>
                </a:solidFill>
              </a:rPr>
              <a:t>01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New</a:t>
            </a:r>
            <a:endParaRPr lang="en-US" sz="1350" dirty="0"/>
          </a:p>
        </p:txBody>
      </p:sp>
      <p:sp>
        <p:nvSpPr>
          <p:cNvPr id="8" name="A1"/>
          <p:cNvSpPr/>
          <p:nvPr/>
        </p:nvSpPr>
        <p:spPr>
          <a:xfrm>
            <a:off x="3355848" y="2066544"/>
            <a:ext cx="2660904" cy="877824"/>
          </a:xfrm>
          <a:prstGeom prst="roundRect">
            <a:avLst>
              <a:gd name="adj" fmla="val 8333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20440" y="21579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710"/>
                </a:solidFill>
              </a:rPr>
              <a:t>02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3774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Valoration</a:t>
            </a:r>
            <a:endParaRPr lang="en-US" sz="1350" dirty="0"/>
          </a:p>
        </p:txBody>
      </p:sp>
      <p:sp>
        <p:nvSpPr>
          <p:cNvPr id="11" name="A2"/>
          <p:cNvSpPr/>
          <p:nvPr/>
        </p:nvSpPr>
        <p:spPr>
          <a:xfrm>
            <a:off x="6144768" y="2066544"/>
            <a:ext cx="2660904" cy="877824"/>
          </a:xfrm>
          <a:prstGeom prst="roundRect">
            <a:avLst>
              <a:gd name="adj" fmla="val 8333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09360" y="21579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710"/>
                </a:solidFill>
              </a:rPr>
              <a:t>03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3774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Waiting business feasibility</a:t>
            </a:r>
            <a:endParaRPr lang="en-US" sz="1350" dirty="0"/>
          </a:p>
        </p:txBody>
      </p:sp>
      <p:sp>
        <p:nvSpPr>
          <p:cNvPr id="14" name="A3"/>
          <p:cNvSpPr/>
          <p:nvPr/>
        </p:nvSpPr>
        <p:spPr>
          <a:xfrm>
            <a:off x="8933688" y="2066544"/>
            <a:ext cx="2660904" cy="877824"/>
          </a:xfrm>
          <a:prstGeom prst="roundRect">
            <a:avLst>
              <a:gd name="adj" fmla="val 8333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098280" y="21579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710"/>
                </a:solidFill>
              </a:rPr>
              <a:t>04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9098280" y="23774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In approval process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127248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7A5C"/>
                </a:solidFill>
              </a:rPr>
              <a:t>PART B · AFTER APPROVAL  ·  any change here means reopening the quote</a:t>
            </a:r>
            <a:endParaRPr lang="en-US" sz="1000" dirty="0"/>
          </a:p>
        </p:txBody>
      </p:sp>
      <p:sp>
        <p:nvSpPr>
          <p:cNvPr id="18" name="B0"/>
          <p:cNvSpPr/>
          <p:nvPr/>
        </p:nvSpPr>
        <p:spPr>
          <a:xfrm>
            <a:off x="566928" y="3410712"/>
            <a:ext cx="1731264" cy="877824"/>
          </a:xfrm>
          <a:prstGeom prst="roundRect">
            <a:avLst>
              <a:gd name="adj" fmla="val 8333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13232" y="3502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</a:rPr>
              <a:t>05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3721608"/>
            <a:ext cx="1438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Approved</a:t>
            </a:r>
            <a:endParaRPr lang="en-US" sz="1250" dirty="0"/>
          </a:p>
        </p:txBody>
      </p:sp>
      <p:sp>
        <p:nvSpPr>
          <p:cNvPr id="21" name="B1"/>
          <p:cNvSpPr/>
          <p:nvPr/>
        </p:nvSpPr>
        <p:spPr>
          <a:xfrm>
            <a:off x="2426208" y="3410712"/>
            <a:ext cx="1731264" cy="877824"/>
          </a:xfrm>
          <a:prstGeom prst="roundRect">
            <a:avLst>
              <a:gd name="adj" fmla="val 8333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2572512" y="3502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</a:rPr>
              <a:t>06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2572512" y="3721608"/>
            <a:ext cx="1438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Quoted 25%</a:t>
            </a:r>
            <a:endParaRPr lang="en-US" sz="1250" dirty="0"/>
          </a:p>
        </p:txBody>
      </p:sp>
      <p:sp>
        <p:nvSpPr>
          <p:cNvPr id="24" name="B2"/>
          <p:cNvSpPr/>
          <p:nvPr/>
        </p:nvSpPr>
        <p:spPr>
          <a:xfrm>
            <a:off x="4285488" y="3410712"/>
            <a:ext cx="1731264" cy="877824"/>
          </a:xfrm>
          <a:prstGeom prst="roundRect">
            <a:avLst>
              <a:gd name="adj" fmla="val 8333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431792" y="3502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</a:rPr>
              <a:t>07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431792" y="3721608"/>
            <a:ext cx="1438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 going 50%</a:t>
            </a:r>
            <a:endParaRPr lang="en-US" sz="1250" dirty="0"/>
          </a:p>
        </p:txBody>
      </p:sp>
      <p:sp>
        <p:nvSpPr>
          <p:cNvPr id="27" name="B3"/>
          <p:cNvSpPr/>
          <p:nvPr/>
        </p:nvSpPr>
        <p:spPr>
          <a:xfrm>
            <a:off x="6144768" y="3410712"/>
            <a:ext cx="1731264" cy="877824"/>
          </a:xfrm>
          <a:prstGeom prst="roundRect">
            <a:avLst>
              <a:gd name="adj" fmla="val 8333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291072" y="3502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</a:rPr>
              <a:t>08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291072" y="3721608"/>
            <a:ext cx="1438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 going 75%</a:t>
            </a:r>
            <a:endParaRPr lang="en-US" sz="1250" dirty="0"/>
          </a:p>
        </p:txBody>
      </p:sp>
      <p:sp>
        <p:nvSpPr>
          <p:cNvPr id="30" name="B4"/>
          <p:cNvSpPr/>
          <p:nvPr/>
        </p:nvSpPr>
        <p:spPr>
          <a:xfrm>
            <a:off x="8004048" y="3410712"/>
            <a:ext cx="1731264" cy="877824"/>
          </a:xfrm>
          <a:prstGeom prst="roundRect">
            <a:avLst>
              <a:gd name="adj" fmla="val 8333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150352" y="3502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</a:rPr>
              <a:t>09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8150352" y="3721608"/>
            <a:ext cx="1438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 going 90%</a:t>
            </a:r>
            <a:endParaRPr lang="en-US" sz="1250" dirty="0"/>
          </a:p>
        </p:txBody>
      </p:sp>
      <p:sp>
        <p:nvSpPr>
          <p:cNvPr id="33" name="B5"/>
          <p:cNvSpPr/>
          <p:nvPr/>
        </p:nvSpPr>
        <p:spPr>
          <a:xfrm>
            <a:off x="9863328" y="3410712"/>
            <a:ext cx="1731264" cy="877824"/>
          </a:xfrm>
          <a:prstGeom prst="roundRect">
            <a:avLst>
              <a:gd name="adj" fmla="val 8333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009632" y="3502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</a:rPr>
              <a:t>10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009632" y="3721608"/>
            <a:ext cx="1438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Awarded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45262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tx2"/>
                </a:solidFill>
              </a:rPr>
              <a:t>EVERY QUOTE ENDS IN ONE OF THESE</a:t>
            </a:r>
            <a:endParaRPr lang="en-US" sz="1000" dirty="0"/>
          </a:p>
        </p:txBody>
      </p:sp>
      <p:sp>
        <p:nvSpPr>
          <p:cNvPr id="37" name="E0"/>
          <p:cNvSpPr/>
          <p:nvPr/>
        </p:nvSpPr>
        <p:spPr>
          <a:xfrm>
            <a:off x="566928" y="4828032"/>
            <a:ext cx="2084832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749808" y="48280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Running</a:t>
            </a:r>
            <a:endParaRPr lang="en-US" sz="1300" dirty="0"/>
          </a:p>
        </p:txBody>
      </p:sp>
      <p:sp>
        <p:nvSpPr>
          <p:cNvPr id="39" name="E1"/>
          <p:cNvSpPr/>
          <p:nvPr/>
        </p:nvSpPr>
        <p:spPr>
          <a:xfrm>
            <a:off x="2816352" y="4828032"/>
            <a:ext cx="2084832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2999232" y="48280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Closed lost</a:t>
            </a:r>
            <a:endParaRPr lang="en-US" sz="1300" dirty="0"/>
          </a:p>
        </p:txBody>
      </p:sp>
      <p:sp>
        <p:nvSpPr>
          <p:cNvPr id="41" name="rule"/>
          <p:cNvSpPr/>
          <p:nvPr/>
        </p:nvSpPr>
        <p:spPr>
          <a:xfrm>
            <a:off x="5413248" y="4544568"/>
            <a:ext cx="6181344" cy="1024128"/>
          </a:xfrm>
          <a:prstGeom prst="roundRect">
            <a:avLst>
              <a:gd name="adj" fmla="val 7143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96128" y="4599432"/>
            <a:ext cx="5815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Reopening is the expensive move.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Changing materials, quantities, price or payment terms after approval sends the quote back to Valoration and through the DOA again. An awarded quote already has a Kick Off, so operations has to be told through Chatter.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118 fields, 9 of them mandatory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The process asks for very little to start and a great deal to finish. That is a sound design — as long as people know where the gates are.</a:t>
            </a:r>
            <a:endParaRPr lang="en-US" sz="1350" dirty="0"/>
          </a:p>
        </p:txBody>
      </p:sp>
      <p:sp>
        <p:nvSpPr>
          <p:cNvPr id="4" name="stat-0"/>
          <p:cNvSpPr/>
          <p:nvPr/>
        </p:nvSpPr>
        <p:spPr>
          <a:xfrm>
            <a:off x="566928" y="1975104"/>
            <a:ext cx="2073859" cy="2157984"/>
          </a:xfrm>
          <a:prstGeom prst="roundRect">
            <a:avLst>
              <a:gd name="adj" fmla="val 3527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2084832"/>
            <a:ext cx="17080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0392B"/>
                </a:solidFill>
              </a:rPr>
              <a:t>9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907792"/>
            <a:ext cx="17080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Required to create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383280"/>
            <a:ext cx="17080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Red asterisk on the form. The record will not save without them.</a:t>
            </a:r>
            <a:endParaRPr lang="en-US" sz="1100" dirty="0"/>
          </a:p>
        </p:txBody>
      </p:sp>
      <p:sp>
        <p:nvSpPr>
          <p:cNvPr id="8" name="stat-1"/>
          <p:cNvSpPr/>
          <p:nvPr/>
        </p:nvSpPr>
        <p:spPr>
          <a:xfrm>
            <a:off x="2805379" y="1975104"/>
            <a:ext cx="2073859" cy="2157984"/>
          </a:xfrm>
          <a:prstGeom prst="roundRect">
            <a:avLst>
              <a:gd name="adj" fmla="val 3527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988259" y="2084832"/>
            <a:ext cx="17080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5710"/>
                </a:solidFill>
              </a:rPr>
              <a:t>6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2988259" y="2907792"/>
            <a:ext cx="17080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Key fields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88259" y="3383280"/>
            <a:ext cx="17080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Block a stage change until filled. Shown in the Key Fields panel.</a:t>
            </a:r>
            <a:endParaRPr lang="en-US" sz="1100" dirty="0"/>
          </a:p>
        </p:txBody>
      </p:sp>
      <p:sp>
        <p:nvSpPr>
          <p:cNvPr id="12" name="stat-2"/>
          <p:cNvSpPr/>
          <p:nvPr/>
        </p:nvSpPr>
        <p:spPr>
          <a:xfrm>
            <a:off x="5043830" y="1975104"/>
            <a:ext cx="2073859" cy="2157984"/>
          </a:xfrm>
          <a:prstGeom prst="roundRect">
            <a:avLst>
              <a:gd name="adj" fmla="val 3527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26710" y="2084832"/>
            <a:ext cx="17080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A7F72"/>
                </a:solidFill>
              </a:rPr>
              <a:t>16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5226710" y="2907792"/>
            <a:ext cx="17080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Filled by the system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26710" y="3383280"/>
            <a:ext cx="17080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Inherited from the RFQ, rolled up from the lines or auto-numbered.</a:t>
            </a:r>
            <a:endParaRPr lang="en-US" sz="1100" dirty="0"/>
          </a:p>
        </p:txBody>
      </p:sp>
      <p:sp>
        <p:nvSpPr>
          <p:cNvPr id="16" name="stat-3"/>
          <p:cNvSpPr/>
          <p:nvPr/>
        </p:nvSpPr>
        <p:spPr>
          <a:xfrm>
            <a:off x="7282282" y="1975104"/>
            <a:ext cx="2073859" cy="2157984"/>
          </a:xfrm>
          <a:prstGeom prst="roundRect">
            <a:avLst>
              <a:gd name="adj" fmla="val 3527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465162" y="2084832"/>
            <a:ext cx="17080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F5D50"/>
                </a:solidFill>
              </a:rPr>
              <a:t>3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7465162" y="2907792"/>
            <a:ext cx="17080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Mirrored from account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465162" y="3383280"/>
            <a:ext cx="17080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Read-only copies of the customer master, each with an editable twin.</a:t>
            </a:r>
            <a:endParaRPr lang="en-US" sz="1100" dirty="0"/>
          </a:p>
        </p:txBody>
      </p:sp>
      <p:sp>
        <p:nvSpPr>
          <p:cNvPr id="20" name="stat-4"/>
          <p:cNvSpPr/>
          <p:nvPr/>
        </p:nvSpPr>
        <p:spPr>
          <a:xfrm>
            <a:off x="9520733" y="1975104"/>
            <a:ext cx="2073859" cy="2157984"/>
          </a:xfrm>
          <a:prstGeom prst="roundRect">
            <a:avLst>
              <a:gd name="adj" fmla="val 3527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703613" y="2084832"/>
            <a:ext cx="17080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9AA1A8"/>
                </a:solidFill>
              </a:rPr>
              <a:t>84</a:t>
            </a:r>
            <a:endParaRPr lang="en-US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9703613" y="2907792"/>
            <a:ext cx="17080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Optional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703613" y="3383280"/>
            <a:ext cx="17080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Nothing in the manual makes them mandatory — which is itself a question.</a:t>
            </a:r>
            <a:endParaRPr lang="en-US" sz="1100" dirty="0"/>
          </a:p>
        </p:txBody>
      </p:sp>
      <p:sp>
        <p:nvSpPr>
          <p:cNvPr id="24" name="obj-0"/>
          <p:cNvSpPr/>
          <p:nvPr/>
        </p:nvSpPr>
        <p:spPr>
          <a:xfrm>
            <a:off x="566928" y="4407408"/>
            <a:ext cx="3553968" cy="1243584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8096" y="4535424"/>
            <a:ext cx="3151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RFQ   </a:t>
            </a:r>
            <a:pPr indent="0" marL="0">
              <a:buNone/>
            </a:pPr>
            <a:r>
              <a:rPr lang="en-US" sz="1150" b="1" dirty="0">
                <a:solidFill>
                  <a:srgbClr val="FF5710"/>
                </a:solidFill>
              </a:rPr>
              <a:t>9 fields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" y="4882896"/>
            <a:ext cx="3151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The minimum the system needs. All the detail lives on the quote.</a:t>
            </a:r>
            <a:endParaRPr lang="en-US" sz="1150" dirty="0"/>
          </a:p>
        </p:txBody>
      </p:sp>
      <p:sp>
        <p:nvSpPr>
          <p:cNvPr id="27" name="obj-1"/>
          <p:cNvSpPr/>
          <p:nvPr/>
        </p:nvSpPr>
        <p:spPr>
          <a:xfrm>
            <a:off x="4303776" y="4407408"/>
            <a:ext cx="3553968" cy="1243584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04944" y="4535424"/>
            <a:ext cx="3151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Quote   </a:t>
            </a:r>
            <a:pPr indent="0" marL="0">
              <a:buNone/>
            </a:pPr>
            <a:r>
              <a:rPr lang="en-US" sz="1150" b="1" dirty="0">
                <a:solidFill>
                  <a:srgbClr val="FF5710"/>
                </a:solidFill>
              </a:rPr>
              <a:t>91 fields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04944" y="4882896"/>
            <a:ext cx="3151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Across eleven sections, from economic agreements to business feasibility.</a:t>
            </a:r>
            <a:endParaRPr lang="en-US" sz="1150" dirty="0"/>
          </a:p>
        </p:txBody>
      </p:sp>
      <p:sp>
        <p:nvSpPr>
          <p:cNvPr id="30" name="obj-2"/>
          <p:cNvSpPr/>
          <p:nvPr/>
        </p:nvSpPr>
        <p:spPr>
          <a:xfrm>
            <a:off x="8040624" y="4407408"/>
            <a:ext cx="3553968" cy="1243584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41792" y="4535424"/>
            <a:ext cx="3151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Quote Line Item   </a:t>
            </a:r>
            <a:pPr indent="0" marL="0">
              <a:buNone/>
            </a:pPr>
            <a:r>
              <a:rPr lang="en-US" sz="1150" b="1" dirty="0">
                <a:solidFill>
                  <a:srgbClr val="FF5710"/>
                </a:solidFill>
              </a:rPr>
              <a:t>18 fields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41792" y="4882896"/>
            <a:ext cx="3151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Three are mandatory: product, quoted price and annual quantity.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Step by step · from the enquiry to the approval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What has to be filled at each stage, in the order the manual fills it. Part A is where all the work is.</a:t>
            </a:r>
            <a:endParaRPr lang="en-US" sz="1350" dirty="0"/>
          </a:p>
        </p:txBody>
      </p:sp>
      <p:sp>
        <p:nvSpPr>
          <p:cNvPr id="4" name="step-1"/>
          <p:cNvSpPr/>
          <p:nvPr/>
        </p:nvSpPr>
        <p:spPr>
          <a:xfrm>
            <a:off x="566928" y="1828800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5" name="disc-1"/>
          <p:cNvSpPr/>
          <p:nvPr/>
        </p:nvSpPr>
        <p:spPr>
          <a:xfrm>
            <a:off x="804672" y="1965960"/>
            <a:ext cx="384048" cy="384048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82880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Before the quote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the RFQ</a:t>
            </a:r>
            <a:endParaRPr lang="en-US" sz="1250" dirty="0"/>
          </a:p>
        </p:txBody>
      </p:sp>
      <p:sp>
        <p:nvSpPr>
          <p:cNvPr id="8" name="fields-1"/>
          <p:cNvSpPr/>
          <p:nvPr/>
        </p:nvSpPr>
        <p:spPr>
          <a:xfrm>
            <a:off x="3803904" y="1920240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68496" y="1920240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RFQ Name · Account Name · RFQ Currency ·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Close Date (EOP) · Status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119872" y="182880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Account Name must be the CHILD account with the right Relats plant. That and the currency decide the selling plant and which price books you will see — wrong here means starting over.</a:t>
            </a:r>
            <a:endParaRPr lang="en-US" sz="1050" dirty="0"/>
          </a:p>
        </p:txBody>
      </p:sp>
      <p:sp>
        <p:nvSpPr>
          <p:cNvPr id="11" name="step-2"/>
          <p:cNvSpPr/>
          <p:nvPr/>
        </p:nvSpPr>
        <p:spPr>
          <a:xfrm>
            <a:off x="566928" y="2578608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2" name="disc-2"/>
          <p:cNvSpPr/>
          <p:nvPr/>
        </p:nvSpPr>
        <p:spPr>
          <a:xfrm>
            <a:off x="804672" y="2715768"/>
            <a:ext cx="384048" cy="384048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578608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NEW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create the quote</a:t>
            </a:r>
            <a:endParaRPr lang="en-US" sz="1250" dirty="0"/>
          </a:p>
        </p:txBody>
      </p:sp>
      <p:sp>
        <p:nvSpPr>
          <p:cNvPr id="15" name="fields-2"/>
          <p:cNvSpPr/>
          <p:nvPr/>
        </p:nvSpPr>
        <p:spPr>
          <a:xfrm>
            <a:off x="3803904" y="2670048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68496" y="2670048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Quote Name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19872" y="2578608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only field the quote needs to exist. Everything else is filled in as you go.</a:t>
            </a:r>
            <a:endParaRPr lang="en-US" sz="1050" dirty="0"/>
          </a:p>
        </p:txBody>
      </p:sp>
      <p:sp>
        <p:nvSpPr>
          <p:cNvPr id="18" name="step-3"/>
          <p:cNvSpPr/>
          <p:nvPr/>
        </p:nvSpPr>
        <p:spPr>
          <a:xfrm>
            <a:off x="566928" y="3328416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9" name="disc-3"/>
          <p:cNvSpPr/>
          <p:nvPr/>
        </p:nvSpPr>
        <p:spPr>
          <a:xfrm>
            <a:off x="804672" y="3465576"/>
            <a:ext cx="384048" cy="384048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328416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→ VALORATION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the one documented gate</a:t>
            </a:r>
            <a:endParaRPr lang="en-US" sz="1250" dirty="0"/>
          </a:p>
        </p:txBody>
      </p:sp>
      <p:sp>
        <p:nvSpPr>
          <p:cNvPr id="22" name="fields-3"/>
          <p:cNvSpPr/>
          <p:nvPr/>
        </p:nvSpPr>
        <p:spPr>
          <a:xfrm>
            <a:off x="3803904" y="3419856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68496" y="3419856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Application · Project type ·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OEM Auto · Project number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119872" y="3328416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four Key Fields. They sit in the Key Fields panel at the top of the quote and can be edited straight from there.</a:t>
            </a:r>
            <a:endParaRPr lang="en-US" sz="1050" dirty="0"/>
          </a:p>
        </p:txBody>
      </p:sp>
      <p:sp>
        <p:nvSpPr>
          <p:cNvPr id="25" name="step-4"/>
          <p:cNvSpPr/>
          <p:nvPr/>
        </p:nvSpPr>
        <p:spPr>
          <a:xfrm>
            <a:off x="566928" y="4078224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6" name="disc-4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07822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VALORATION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price book, then lines</a:t>
            </a:r>
            <a:endParaRPr lang="en-US" sz="1250" dirty="0"/>
          </a:p>
        </p:txBody>
      </p:sp>
      <p:sp>
        <p:nvSpPr>
          <p:cNvPr id="29" name="fields-4"/>
          <p:cNvSpPr/>
          <p:nvPr/>
        </p:nvSpPr>
        <p:spPr>
          <a:xfrm>
            <a:off x="3803904" y="4169664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68496" y="4169664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Pricebook Name, then per line: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Product · Quoted Price · Annual Quantity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119872" y="4078224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One price book per quote, chosen before the first line — only its codes can be quoted. Customer PN, M.O.Q and packing info go on the same screen.</a:t>
            </a:r>
            <a:endParaRPr lang="en-US" sz="1050" dirty="0"/>
          </a:p>
        </p:txBody>
      </p:sp>
      <p:sp>
        <p:nvSpPr>
          <p:cNvPr id="32" name="step-5"/>
          <p:cNvSpPr/>
          <p:nvPr/>
        </p:nvSpPr>
        <p:spPr>
          <a:xfrm>
            <a:off x="566928" y="4828032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33" name="disc-5"/>
          <p:cNvSpPr/>
          <p:nvPr/>
        </p:nvSpPr>
        <p:spPr>
          <a:xfrm>
            <a:off x="804672" y="4965192"/>
            <a:ext cx="384048" cy="384048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4828032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→ IN APPROVAL PROCESS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submit</a:t>
            </a:r>
            <a:endParaRPr lang="en-US" sz="1250" dirty="0"/>
          </a:p>
        </p:txBody>
      </p:sp>
      <p:sp>
        <p:nvSpPr>
          <p:cNvPr id="36" name="fields-5"/>
          <p:cNvSpPr/>
          <p:nvPr/>
        </p:nvSpPr>
        <p:spPr>
          <a:xfrm>
            <a:off x="3803904" y="4919472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0EEEB"/>
          </a:solidFill>
          <a:ln w="9525">
            <a:solidFill>
              <a:srgbClr val="DAD5C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968496" y="4919472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178"/>
                </a:solidFill>
              </a:rPr>
              <a:t>nothing new to fill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119872" y="4828032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But the DOA reads Annual Purchase Value, LTA, bonus, commissions and payment terms. Only the quote owner or the RFQ owner may submit.</a:t>
            </a:r>
            <a:endParaRPr lang="en-US" sz="1050" dirty="0"/>
          </a:p>
        </p:txBody>
      </p:sp>
      <p:sp>
        <p:nvSpPr>
          <p:cNvPr id="39" name="detour"/>
          <p:cNvSpPr/>
          <p:nvPr/>
        </p:nvSpPr>
        <p:spPr>
          <a:xfrm>
            <a:off x="566928" y="5632704"/>
            <a:ext cx="11027664" cy="548640"/>
          </a:xfrm>
          <a:prstGeom prst="roundRect">
            <a:avLst>
              <a:gd name="adj" fmla="val 13333"/>
            </a:avLst>
          </a:prstGeom>
          <a:solidFill>
            <a:srgbClr val="FFF8F4"/>
          </a:solidFill>
          <a:ln w="9525">
            <a:solidFill>
              <a:srgbClr val="F0D9C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6384" y="5632704"/>
            <a:ext cx="10588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Optional detour · new material that needs a Business Feasibility.  </a:t>
            </a:r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Add one line with the BF code, a quantity and an approximate price so the forecast carries an amount, then move to WAITING BUSINESS FEASIBILITY. Once approved: delete the BF line, create the real one, submit.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Step by step · from approved to closed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Past the approval the manual names the fields for AWARDED and CLOSED LOST. For the four ON GOING steps and RUNNING it names none.</a:t>
            </a:r>
            <a:endParaRPr lang="en-US" sz="1350" dirty="0"/>
          </a:p>
        </p:txBody>
      </p:sp>
      <p:sp>
        <p:nvSpPr>
          <p:cNvPr id="4" name="step-6"/>
          <p:cNvSpPr/>
          <p:nvPr/>
        </p:nvSpPr>
        <p:spPr>
          <a:xfrm>
            <a:off x="566928" y="1828800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5" name="disc-6"/>
          <p:cNvSpPr/>
          <p:nvPr/>
        </p:nvSpPr>
        <p:spPr>
          <a:xfrm>
            <a:off x="804672" y="1965960"/>
            <a:ext cx="384048" cy="38404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82880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APPROVED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generate the PDF</a:t>
            </a:r>
            <a:endParaRPr lang="en-US" sz="1250" dirty="0"/>
          </a:p>
        </p:txBody>
      </p:sp>
      <p:sp>
        <p:nvSpPr>
          <p:cNvPr id="8" name="fields-6"/>
          <p:cNvSpPr/>
          <p:nvPr/>
        </p:nvSpPr>
        <p:spPr>
          <a:xfrm>
            <a:off x="3803904" y="1920240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68496" y="1920240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Quote Language · Terms &amp; Conditions ·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Contact Person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119872" y="182880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Only once approved. Contact Person prints as “Prepared by”; left empty, the quote owner is used. Each generation is kept as V1, V2… under Quote PDFs.</a:t>
            </a:r>
            <a:endParaRPr lang="en-US" sz="1050" dirty="0"/>
          </a:p>
        </p:txBody>
      </p:sp>
      <p:sp>
        <p:nvSpPr>
          <p:cNvPr id="11" name="step-7"/>
          <p:cNvSpPr/>
          <p:nvPr/>
        </p:nvSpPr>
        <p:spPr>
          <a:xfrm>
            <a:off x="566928" y="2560320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2" name="disc-7"/>
          <p:cNvSpPr/>
          <p:nvPr/>
        </p:nvSpPr>
        <p:spPr>
          <a:xfrm>
            <a:off x="804672" y="269748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56032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QUOTED 25% →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 GOING 50 / 75 / 90%</a:t>
            </a:r>
            <a:endParaRPr lang="en-US" sz="1250" dirty="0"/>
          </a:p>
        </p:txBody>
      </p:sp>
      <p:sp>
        <p:nvSpPr>
          <p:cNvPr id="15" name="fields-7"/>
          <p:cNvSpPr/>
          <p:nvPr/>
        </p:nvSpPr>
        <p:spPr>
          <a:xfrm>
            <a:off x="3803904" y="2651760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BEDEB"/>
          </a:solidFill>
          <a:ln w="9525">
            <a:solidFill>
              <a:srgbClr val="E8BCB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68496" y="2651760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0392B"/>
                </a:solidFill>
              </a:rPr>
              <a:t>nothing documented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19872" y="256032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Four stage changes in a row, and the manual names no field for any of them. This is the bulk of the gap.</a:t>
            </a:r>
            <a:endParaRPr lang="en-US" sz="1050" dirty="0"/>
          </a:p>
        </p:txBody>
      </p:sp>
      <p:sp>
        <p:nvSpPr>
          <p:cNvPr id="18" name="step-8"/>
          <p:cNvSpPr/>
          <p:nvPr/>
        </p:nvSpPr>
        <p:spPr>
          <a:xfrm>
            <a:off x="566928" y="3291840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9" name="disc-8"/>
          <p:cNvSpPr/>
          <p:nvPr/>
        </p:nvSpPr>
        <p:spPr>
          <a:xfrm>
            <a:off x="804672" y="3429000"/>
            <a:ext cx="384048" cy="38404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29184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→ AWARDED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evidence is mandatory</a:t>
            </a:r>
            <a:endParaRPr lang="en-US" sz="1250" dirty="0"/>
          </a:p>
        </p:txBody>
      </p:sp>
      <p:sp>
        <p:nvSpPr>
          <p:cNvPr id="22" name="fields-8"/>
          <p:cNvSpPr/>
          <p:nvPr/>
        </p:nvSpPr>
        <p:spPr>
          <a:xfrm>
            <a:off x="3803904" y="3383280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68496" y="3383280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Contract/LOI/Evidencia Nominacion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+ the document attached under Documents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119872" y="329184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Marking AWARDED creates the Kick Off automatically. Reopening an awarded quote means telling operations through Chatter — the KO already exists.</a:t>
            </a:r>
            <a:endParaRPr lang="en-US" sz="1050" dirty="0"/>
          </a:p>
        </p:txBody>
      </p:sp>
      <p:sp>
        <p:nvSpPr>
          <p:cNvPr id="25" name="step-9"/>
          <p:cNvSpPr/>
          <p:nvPr/>
        </p:nvSpPr>
        <p:spPr>
          <a:xfrm>
            <a:off x="566928" y="4023360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6" name="disc-9"/>
          <p:cNvSpPr/>
          <p:nvPr/>
        </p:nvSpPr>
        <p:spPr>
          <a:xfrm>
            <a:off x="804672" y="416052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02336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→ RUNNING</a:t>
            </a:r>
            <a:endParaRPr lang="en-US" sz="1250" dirty="0"/>
          </a:p>
        </p:txBody>
      </p:sp>
      <p:sp>
        <p:nvSpPr>
          <p:cNvPr id="29" name="fields-9"/>
          <p:cNvSpPr/>
          <p:nvPr/>
        </p:nvSpPr>
        <p:spPr>
          <a:xfrm>
            <a:off x="3803904" y="4114800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FBEDEB"/>
          </a:solidFill>
          <a:ln w="9525">
            <a:solidFill>
              <a:srgbClr val="E8BCB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68496" y="4114800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0392B"/>
                </a:solidFill>
              </a:rPr>
              <a:t>nothing documented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119872" y="402336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Moves when DACs confirm the orders have arrived. An end state.</a:t>
            </a:r>
            <a:endParaRPr lang="en-US" sz="1050" dirty="0"/>
          </a:p>
        </p:txBody>
      </p:sp>
      <p:sp>
        <p:nvSpPr>
          <p:cNvPr id="32" name="step-10"/>
          <p:cNvSpPr/>
          <p:nvPr/>
        </p:nvSpPr>
        <p:spPr>
          <a:xfrm>
            <a:off x="566928" y="4754880"/>
            <a:ext cx="11027664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33" name="disc-10"/>
          <p:cNvSpPr/>
          <p:nvPr/>
        </p:nvSpPr>
        <p:spPr>
          <a:xfrm>
            <a:off x="804672" y="4892040"/>
            <a:ext cx="384048" cy="38404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475488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→ CLOSED LOST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from any stage</a:t>
            </a:r>
            <a:endParaRPr lang="en-US" sz="1250" dirty="0"/>
          </a:p>
        </p:txBody>
      </p:sp>
      <p:sp>
        <p:nvSpPr>
          <p:cNvPr id="36" name="fields-10"/>
          <p:cNvSpPr/>
          <p:nvPr/>
        </p:nvSpPr>
        <p:spPr>
          <a:xfrm>
            <a:off x="3803904" y="4846320"/>
            <a:ext cx="4114800" cy="475488"/>
          </a:xfrm>
          <a:prstGeom prst="roundRect">
            <a:avLst>
              <a:gd name="adj" fmla="val 15385"/>
            </a:avLst>
          </a:prstGeom>
          <a:solidFill>
            <a:srgbClr val="EAF3EF"/>
          </a:solidFill>
          <a:ln w="9525">
            <a:solidFill>
              <a:srgbClr val="BBD7C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968496" y="4846320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Lost reason · a comment ·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Other lost reason if “Other”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119872" y="475488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Nine lost reasons. Reporting on losses has to read both free-text boxes.</a:t>
            </a:r>
            <a:endParaRPr lang="en-US" sz="1050" dirty="0"/>
          </a:p>
        </p:txBody>
      </p:sp>
      <p:sp>
        <p:nvSpPr>
          <p:cNvPr id="39" name="gapnote"/>
          <p:cNvSpPr/>
          <p:nvPr/>
        </p:nvSpPr>
        <p:spPr>
          <a:xfrm>
            <a:off x="566928" y="5559552"/>
            <a:ext cx="11027664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9525">
            <a:solidFill>
              <a:srgbClr val="E8BCB6"/>
            </a:solidFill>
            <a:prstDash val="solid"/>
          </a:ln>
        </p:spPr>
      </p:sp>
      <p:sp>
        <p:nvSpPr>
          <p:cNvPr id="40" name="disc-!"/>
          <p:cNvSpPr/>
          <p:nvPr/>
        </p:nvSpPr>
        <p:spPr>
          <a:xfrm>
            <a:off x="822960" y="5696712"/>
            <a:ext cx="438912" cy="43891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2960" y="56967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!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1426464" y="5559552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These stages do have key fields — they are simply not written down. 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Reading them off the validation rules and adding them to this walkthrough is half a day of work, and it is the single highest-return item in the review.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What comes from the customer, what you may override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A good design: the quote shows what the account carries, and lets you depart from it on purpose. The problem is that the screen never says which is which.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288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F5D50"/>
                </a:solidFill>
              </a:rPr>
              <a:t>FROM THE CUSTOMER MASTER · READ ONLY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510528" y="18288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5710"/>
                </a:solidFill>
              </a:rPr>
              <a:t>FOR THIS QUOTE · EDITABLE</a:t>
            </a:r>
            <a:endParaRPr lang="en-US" sz="1000" dirty="0"/>
          </a:p>
        </p:txBody>
      </p:sp>
      <p:sp>
        <p:nvSpPr>
          <p:cNvPr id="6" name="m-0"/>
          <p:cNvSpPr/>
          <p:nvPr/>
        </p:nvSpPr>
        <p:spPr>
          <a:xfrm>
            <a:off x="566928" y="2157984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DF2F0"/>
          </a:solidFill>
          <a:ln w="9525">
            <a:solidFill>
              <a:srgbClr val="C6D8D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157984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Incoterm Account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053328" y="2157984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1A8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m2-0"/>
          <p:cNvSpPr/>
          <p:nvPr/>
        </p:nvSpPr>
        <p:spPr>
          <a:xfrm>
            <a:off x="6510528" y="2157984"/>
            <a:ext cx="5084064" cy="603504"/>
          </a:xfrm>
          <a:prstGeom prst="roundRect">
            <a:avLst>
              <a:gd name="adj" fmla="val 12121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48272" y="215798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Incoterm</a:t>
            </a:r>
            <a:endParaRPr lang="en-US" sz="1300" dirty="0"/>
          </a:p>
        </p:txBody>
      </p:sp>
      <p:sp>
        <p:nvSpPr>
          <p:cNvPr id="11" name="m-1"/>
          <p:cNvSpPr/>
          <p:nvPr/>
        </p:nvSpPr>
        <p:spPr>
          <a:xfrm>
            <a:off x="566928" y="2889504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DF2F0"/>
          </a:solidFill>
          <a:ln w="9525">
            <a:solidFill>
              <a:srgbClr val="C6D8D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889504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Incoterm Destination Account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053328" y="2889504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1A8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m2-1"/>
          <p:cNvSpPr/>
          <p:nvPr/>
        </p:nvSpPr>
        <p:spPr>
          <a:xfrm>
            <a:off x="6510528" y="2889504"/>
            <a:ext cx="5084064" cy="603504"/>
          </a:xfrm>
          <a:prstGeom prst="roundRect">
            <a:avLst>
              <a:gd name="adj" fmla="val 12121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48272" y="288950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Incoterm Location (city)</a:t>
            </a:r>
            <a:endParaRPr lang="en-US" sz="1300" dirty="0"/>
          </a:p>
        </p:txBody>
      </p:sp>
      <p:sp>
        <p:nvSpPr>
          <p:cNvPr id="16" name="m-2"/>
          <p:cNvSpPr/>
          <p:nvPr/>
        </p:nvSpPr>
        <p:spPr>
          <a:xfrm>
            <a:off x="566928" y="3621024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DF2F0"/>
          </a:solidFill>
          <a:ln w="9525">
            <a:solidFill>
              <a:srgbClr val="C6D8D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3621024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Payment term Account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53328" y="3621024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1A8"/>
                </a:solidFill>
              </a:rPr>
              <a:t>→</a:t>
            </a:r>
            <a:endParaRPr lang="en-US" sz="1600" dirty="0"/>
          </a:p>
        </p:txBody>
      </p:sp>
      <p:sp>
        <p:nvSpPr>
          <p:cNvPr id="19" name="m2-2"/>
          <p:cNvSpPr/>
          <p:nvPr/>
        </p:nvSpPr>
        <p:spPr>
          <a:xfrm>
            <a:off x="6510528" y="3621024"/>
            <a:ext cx="5084064" cy="603504"/>
          </a:xfrm>
          <a:prstGeom prst="roundRect">
            <a:avLst>
              <a:gd name="adj" fmla="val 12121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36210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Payment Terms</a:t>
            </a:r>
            <a:endParaRPr lang="en-US" sz="1300" dirty="0"/>
          </a:p>
        </p:txBody>
      </p:sp>
      <p:sp>
        <p:nvSpPr>
          <p:cNvPr id="21" name="m-3"/>
          <p:cNvSpPr/>
          <p:nvPr/>
        </p:nvSpPr>
        <p:spPr>
          <a:xfrm>
            <a:off x="566928" y="4352544"/>
            <a:ext cx="5394960" cy="603504"/>
          </a:xfrm>
          <a:prstGeom prst="roundRect">
            <a:avLst>
              <a:gd name="adj" fmla="val 12121"/>
            </a:avLst>
          </a:prstGeom>
          <a:solidFill>
            <a:srgbClr val="EDF2F0"/>
          </a:solidFill>
          <a:ln w="9525">
            <a:solidFill>
              <a:srgbClr val="C6D8D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4352544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Selling plant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053328" y="4352544"/>
            <a:ext cx="411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1A8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m2-3"/>
          <p:cNvSpPr/>
          <p:nvPr/>
        </p:nvSpPr>
        <p:spPr>
          <a:xfrm>
            <a:off x="6510528" y="4352544"/>
            <a:ext cx="5084064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48272" y="435254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— set by the child account you chose</a:t>
            </a:r>
            <a:endParaRPr lang="en-US" sz="1300" dirty="0"/>
          </a:p>
        </p:txBody>
      </p:sp>
      <p:sp>
        <p:nvSpPr>
          <p:cNvPr id="26" name="md-note"/>
          <p:cNvSpPr/>
          <p:nvPr/>
        </p:nvSpPr>
        <p:spPr>
          <a:xfrm>
            <a:off x="566928" y="5230368"/>
            <a:ext cx="11027664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5303520"/>
            <a:ext cx="1055217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The manual explains this in one sentence, on one slide.  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Nothing on the form marks the mirrored fields as read-only. A new joiner will try to edit “Incoterm Account” and not understand why it won't save. Renaming them — “Incoterm (customer standard)” — costs nothing and changes no data.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Three things that cost time or money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Found while transcribing the manual. These are the ones worth a decision.</a:t>
            </a:r>
            <a:endParaRPr lang="en-US" sz="1350" dirty="0"/>
          </a:p>
        </p:txBody>
      </p:sp>
      <p:sp>
        <p:nvSpPr>
          <p:cNvPr id="4" name="iss-0"/>
          <p:cNvSpPr/>
          <p:nvPr/>
        </p:nvSpPr>
        <p:spPr>
          <a:xfrm>
            <a:off x="566928" y="1847088"/>
            <a:ext cx="11027664" cy="1335024"/>
          </a:xfrm>
          <a:prstGeom prst="roundRect">
            <a:avLst>
              <a:gd name="adj" fmla="val 5479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5" name="disc-1"/>
          <p:cNvSpPr/>
          <p:nvPr/>
        </p:nvSpPr>
        <p:spPr>
          <a:xfrm>
            <a:off x="859536" y="2267712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029968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Key fields documented for one stage in twelve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2423160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manual says “there are some fields required to pass to each stage”, then shows only the Valoration set. For the other eleven, people learn by trial and error.</a:t>
            </a:r>
            <a:endParaRPr lang="en-US" sz="1200" dirty="0"/>
          </a:p>
        </p:txBody>
      </p:sp>
      <p:sp>
        <p:nvSpPr>
          <p:cNvPr id="9" name="fix-0"/>
          <p:cNvSpPr/>
          <p:nvPr/>
        </p:nvSpPr>
        <p:spPr>
          <a:xfrm>
            <a:off x="8394192" y="2121408"/>
            <a:ext cx="2926080" cy="749808"/>
          </a:xfrm>
          <a:prstGeom prst="roundRect">
            <a:avLst>
              <a:gd name="adj" fmla="val 9756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58784" y="2121408"/>
            <a:ext cx="2596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5710"/>
                </a:solidFill>
              </a:rPr>
              <a:t>Read them off the validation rules · half a day</a:t>
            </a:r>
            <a:endParaRPr lang="en-US" sz="1150" dirty="0"/>
          </a:p>
        </p:txBody>
      </p:sp>
      <p:sp>
        <p:nvSpPr>
          <p:cNvPr id="11" name="iss-1"/>
          <p:cNvSpPr/>
          <p:nvPr/>
        </p:nvSpPr>
        <p:spPr>
          <a:xfrm>
            <a:off x="566928" y="3364992"/>
            <a:ext cx="11027664" cy="1335024"/>
          </a:xfrm>
          <a:prstGeom prst="roundRect">
            <a:avLst>
              <a:gd name="adj" fmla="val 5479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2" name="disc-2"/>
          <p:cNvSpPr/>
          <p:nvPr/>
        </p:nvSpPr>
        <p:spPr>
          <a:xfrm>
            <a:off x="859536" y="3785616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" y="3785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499616" y="354787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Project number blocks Valoration and appears on no screen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499616" y="394106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It is in the Key Fields panel and in the quote header, but in none of the detail screenshots. Someone following the manual cannot find where to type it.</a:t>
            </a:r>
            <a:endParaRPr lang="en-US" sz="1200" dirty="0"/>
          </a:p>
        </p:txBody>
      </p:sp>
      <p:sp>
        <p:nvSpPr>
          <p:cNvPr id="16" name="fix-1"/>
          <p:cNvSpPr/>
          <p:nvPr/>
        </p:nvSpPr>
        <p:spPr>
          <a:xfrm>
            <a:off x="8394192" y="3639312"/>
            <a:ext cx="2926080" cy="749808"/>
          </a:xfrm>
          <a:prstGeom prst="roundRect">
            <a:avLst>
              <a:gd name="adj" fmla="val 9756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58784" y="3639312"/>
            <a:ext cx="2596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5710"/>
                </a:solidFill>
              </a:rPr>
              <a:t>Locate it and add it to the manual · one hour</a:t>
            </a:r>
            <a:endParaRPr lang="en-US" sz="1150" dirty="0"/>
          </a:p>
        </p:txBody>
      </p:sp>
      <p:sp>
        <p:nvSpPr>
          <p:cNvPr id="18" name="iss-2"/>
          <p:cNvSpPr/>
          <p:nvPr/>
        </p:nvSpPr>
        <p:spPr>
          <a:xfrm>
            <a:off x="566928" y="4882896"/>
            <a:ext cx="11027664" cy="1335024"/>
          </a:xfrm>
          <a:prstGeom prst="roundRect">
            <a:avLst>
              <a:gd name="adj" fmla="val 5479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  <a:effectLst>
            <a:outerShdw sx="100000" sy="100000" kx="0" ky="0" algn="bl" rotWithShape="0" blurRad="127000" dist="25400" dir="5400000">
              <a:srgbClr val="14181C">
                <a:alpha val="7000"/>
              </a:srgbClr>
            </a:outerShdw>
          </a:effectLst>
        </p:spPr>
      </p:sp>
      <p:sp>
        <p:nvSpPr>
          <p:cNvPr id="19" name="disc-3"/>
          <p:cNvSpPr/>
          <p:nvPr/>
        </p:nvSpPr>
        <p:spPr>
          <a:xfrm>
            <a:off x="859536" y="530352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9536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499616" y="5065776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A missing minimum price turns the price control off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1499616" y="5458968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manual states it plainly: with no minimum price the value counts as zero and any price passes approval. No warning, no trace.</a:t>
            </a:r>
            <a:endParaRPr lang="en-US" sz="1200" dirty="0"/>
          </a:p>
        </p:txBody>
      </p:sp>
      <p:sp>
        <p:nvSpPr>
          <p:cNvPr id="23" name="fix-2"/>
          <p:cNvSpPr/>
          <p:nvPr/>
        </p:nvSpPr>
        <p:spPr>
          <a:xfrm>
            <a:off x="8394192" y="5157216"/>
            <a:ext cx="2926080" cy="749808"/>
          </a:xfrm>
          <a:prstGeom prst="roundRect">
            <a:avLst>
              <a:gd name="adj" fmla="val 9756"/>
            </a:avLst>
          </a:prstGeom>
          <a:solidFill>
            <a:srgbClr val="FFF1EB"/>
          </a:solidFill>
          <a:ln w="9525">
            <a:solidFill>
              <a:srgbClr val="F8C9B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58784" y="5157216"/>
            <a:ext cx="2596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5710"/>
                </a:solidFill>
              </a:rPr>
              <a:t>Count the quoted codes with no minimum · one query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Nine more, cheap to fix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None of these stops anyone working. Two of them are visible to customers.</a:t>
            </a:r>
            <a:endParaRPr lang="en-US" sz="1350" dirty="0"/>
          </a:p>
        </p:txBody>
      </p:sp>
      <p:sp>
        <p:nvSpPr>
          <p:cNvPr id="4" name="n-0"/>
          <p:cNvSpPr/>
          <p:nvPr/>
        </p:nvSpPr>
        <p:spPr>
          <a:xfrm>
            <a:off x="566928" y="1847088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993392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Two probabilities, no rule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2450592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RFQ has Probability (%); the quote has 25 / 50 / 75 / 90 in the stage name. Which one feeds the forecast?</a:t>
            </a:r>
            <a:endParaRPr lang="en-US" sz="1100" dirty="0"/>
          </a:p>
        </p:txBody>
      </p:sp>
      <p:sp>
        <p:nvSpPr>
          <p:cNvPr id="7" name="n-1"/>
          <p:cNvSpPr/>
          <p:nvPr/>
        </p:nvSpPr>
        <p:spPr>
          <a:xfrm>
            <a:off x="4303776" y="1847088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04944" y="1993392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Two boxes for the lost reason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04944" y="2450592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“Other lost reason” and “Lost reason comments”. Reporting on losses has to read both.</a:t>
            </a:r>
            <a:endParaRPr lang="en-US" sz="1100" dirty="0"/>
          </a:p>
        </p:txBody>
      </p:sp>
      <p:sp>
        <p:nvSpPr>
          <p:cNvPr id="10" name="n-2"/>
          <p:cNvSpPr/>
          <p:nvPr/>
        </p:nvSpPr>
        <p:spPr>
          <a:xfrm>
            <a:off x="8040624" y="1847088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1792" y="1993392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Competitor is free text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41792" y="2450592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Exactly the field you want to group by later. It will carry every spelling of every name.</a:t>
            </a:r>
            <a:endParaRPr lang="en-US" sz="1100" dirty="0"/>
          </a:p>
        </p:txBody>
      </p:sp>
      <p:sp>
        <p:nvSpPr>
          <p:cNvPr id="13" name="n-3"/>
          <p:cNvSpPr/>
          <p:nvPr/>
        </p:nvSpPr>
        <p:spPr>
          <a:xfrm>
            <a:off x="566928" y="3346704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" y="3493008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Incoterm location is free text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3950208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Same problem, on a field that prints on the customer quotation.</a:t>
            </a:r>
            <a:endParaRPr lang="en-US" sz="1100" dirty="0"/>
          </a:p>
        </p:txBody>
      </p:sp>
      <p:sp>
        <p:nvSpPr>
          <p:cNvPr id="16" name="n-4"/>
          <p:cNvSpPr/>
          <p:nvPr/>
        </p:nvSpPr>
        <p:spPr>
          <a:xfrm>
            <a:off x="4303776" y="3346704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04944" y="3493008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Four requirements, one detail box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04944" y="3950208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Quality, technical, logistic and packaging each have a checkbox but share one notes field.</a:t>
            </a:r>
            <a:endParaRPr lang="en-US" sz="1100" dirty="0"/>
          </a:p>
        </p:txBody>
      </p:sp>
      <p:sp>
        <p:nvSpPr>
          <p:cNvPr id="19" name="n-5"/>
          <p:cNvSpPr/>
          <p:nvPr/>
        </p:nvSpPr>
        <p:spPr>
          <a:xfrm>
            <a:off x="8040624" y="3346704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41792" y="3493008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The UK decimal note reads backwards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41792" y="3950208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“English UK will use point per thousands and comma for decimals” is the Continental convention. It prints on quotations.</a:t>
            </a:r>
            <a:endParaRPr lang="en-US" sz="1100" dirty="0"/>
          </a:p>
        </p:txBody>
      </p:sp>
      <p:sp>
        <p:nvSpPr>
          <p:cNvPr id="22" name="n-6"/>
          <p:cNvSpPr/>
          <p:nvPr/>
        </p:nvSpPr>
        <p:spPr>
          <a:xfrm>
            <a:off x="566928" y="4846320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" y="4992624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Misspelled field labels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" y="5449824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Proyect Information · Economic Agrements · Comissions · Cheked with Tecom · Bussines feasibility.</a:t>
            </a:r>
            <a:endParaRPr lang="en-US" sz="1100" dirty="0"/>
          </a:p>
        </p:txBody>
      </p:sp>
      <p:sp>
        <p:nvSpPr>
          <p:cNvPr id="25" name="n-7"/>
          <p:cNvSpPr/>
          <p:nvPr/>
        </p:nvSpPr>
        <p:spPr>
          <a:xfrm>
            <a:off x="4303776" y="4846320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04944" y="4992624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One quote per RFQ is a rule, not a constraint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04944" y="5449824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Salesforce will take several. Reporting that assumes one-to-one can quietly drift.</a:t>
            </a:r>
            <a:endParaRPr lang="en-US" sz="1100" dirty="0"/>
          </a:p>
        </p:txBody>
      </p:sp>
      <p:sp>
        <p:nvSpPr>
          <p:cNvPr id="28" name="n-8"/>
          <p:cNvSpPr/>
          <p:nvPr/>
        </p:nvSpPr>
        <p:spPr>
          <a:xfrm>
            <a:off x="8040624" y="4846320"/>
            <a:ext cx="3553968" cy="131673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E4E0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41792" y="4992624"/>
            <a:ext cx="3151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Nobody is named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41792" y="5449824"/>
            <a:ext cx="315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manual mentions Tecom, DACs and operations but never says who fills what.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51206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What we are asking for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22529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8AEB4"/>
                </a:solidFill>
              </a:rPr>
              <a:t>Three decisions and one owner. Everything else follows from them.</a:t>
            </a:r>
            <a:endParaRPr lang="en-US" sz="1350" dirty="0"/>
          </a:p>
        </p:txBody>
      </p:sp>
      <p:sp>
        <p:nvSpPr>
          <p:cNvPr id="4" name="ask-0"/>
          <p:cNvSpPr/>
          <p:nvPr/>
        </p:nvSpPr>
        <p:spPr>
          <a:xfrm>
            <a:off x="566928" y="2103120"/>
            <a:ext cx="3529584" cy="2377440"/>
          </a:xfrm>
          <a:prstGeom prst="roundRect">
            <a:avLst>
              <a:gd name="adj" fmla="val 3077"/>
            </a:avLst>
          </a:prstGeom>
          <a:solidFill>
            <a:srgbClr val="1F252B"/>
          </a:solidFill>
          <a:ln w="9525">
            <a:solidFill>
              <a:srgbClr val="2E363E"/>
            </a:solidFill>
            <a:prstDash val="solid"/>
          </a:ln>
        </p:spPr>
      </p:sp>
      <p:sp>
        <p:nvSpPr>
          <p:cNvPr id="5" name="disc-1"/>
          <p:cNvSpPr/>
          <p:nvPr/>
        </p:nvSpPr>
        <p:spPr>
          <a:xfrm>
            <a:off x="804672" y="2322576"/>
            <a:ext cx="420624" cy="420624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322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8950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Complete the key fields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364992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AEB4"/>
                </a:solidFill>
              </a:rPr>
              <a:t>Document what blocks each of the twelve stages, from the validation rules, and put it in the next version of the manual.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413308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F5710"/>
                </a:solidFill>
              </a:rPr>
              <a:t>Digital · half a day</a:t>
            </a:r>
            <a:endParaRPr lang="en-US" sz="1050" dirty="0"/>
          </a:p>
        </p:txBody>
      </p:sp>
      <p:sp>
        <p:nvSpPr>
          <p:cNvPr id="10" name="ask-1"/>
          <p:cNvSpPr/>
          <p:nvPr/>
        </p:nvSpPr>
        <p:spPr>
          <a:xfrm>
            <a:off x="4315968" y="2103120"/>
            <a:ext cx="3529584" cy="2377440"/>
          </a:xfrm>
          <a:prstGeom prst="roundRect">
            <a:avLst>
              <a:gd name="adj" fmla="val 3077"/>
            </a:avLst>
          </a:prstGeom>
          <a:solidFill>
            <a:srgbClr val="1F252B"/>
          </a:solidFill>
          <a:ln w="9525">
            <a:solidFill>
              <a:srgbClr val="2E363E"/>
            </a:solidFill>
            <a:prstDash val="solid"/>
          </a:ln>
        </p:spPr>
      </p:sp>
      <p:sp>
        <p:nvSpPr>
          <p:cNvPr id="11" name="disc-2"/>
          <p:cNvSpPr/>
          <p:nvPr/>
        </p:nvSpPr>
        <p:spPr>
          <a:xfrm>
            <a:off x="4553712" y="2322576"/>
            <a:ext cx="420624" cy="420624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53712" y="2322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288950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Decide on the minimum price gap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53712" y="3364992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AEB4"/>
                </a:solidFill>
              </a:rPr>
              <a:t>Either every quoted code carries a minimum, or we accept that some pass the control unchecked — but it should be a decision, not a side effect.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413308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F5710"/>
                </a:solidFill>
              </a:rPr>
              <a:t>Commercial · your call</a:t>
            </a:r>
            <a:endParaRPr lang="en-US" sz="1050" dirty="0"/>
          </a:p>
        </p:txBody>
      </p:sp>
      <p:sp>
        <p:nvSpPr>
          <p:cNvPr id="16" name="ask-2"/>
          <p:cNvSpPr/>
          <p:nvPr/>
        </p:nvSpPr>
        <p:spPr>
          <a:xfrm>
            <a:off x="8065008" y="2103120"/>
            <a:ext cx="3529584" cy="2377440"/>
          </a:xfrm>
          <a:prstGeom prst="roundRect">
            <a:avLst>
              <a:gd name="adj" fmla="val 3077"/>
            </a:avLst>
          </a:prstGeom>
          <a:solidFill>
            <a:srgbClr val="1F252B"/>
          </a:solidFill>
          <a:ln w="9525">
            <a:solidFill>
              <a:srgbClr val="2E363E"/>
            </a:solidFill>
            <a:prstDash val="solid"/>
          </a:ln>
        </p:spPr>
      </p:sp>
      <p:sp>
        <p:nvSpPr>
          <p:cNvPr id="17" name="disc-3"/>
          <p:cNvSpPr/>
          <p:nvPr/>
        </p:nvSpPr>
        <p:spPr>
          <a:xfrm>
            <a:off x="8302752" y="2322576"/>
            <a:ext cx="420624" cy="420624"/>
          </a:xfrm>
          <a:prstGeom prst="ellipse">
            <a:avLst/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02752" y="2322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02752" y="288950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Name an owner per field group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02752" y="3364992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AEB4"/>
                </a:solidFill>
              </a:rPr>
              <a:t>Commercial, Tecom, DACs, operations. The manual names the teams but never says who fills what.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413308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F5710"/>
                </a:solidFill>
              </a:rPr>
              <a:t>Regional Director · your call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791456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EB4"/>
                </a:solidFill>
              </a:rPr>
              <a:t>The full field reference </a:t>
            </a:r>
            <a:pPr indent="0" marL="0">
              <a:buNone/>
            </a:pPr>
            <a:r>
              <a:rPr lang="en-US" sz="1300" dirty="0">
                <a:solidFill>
                  <a:srgbClr val="7A828A"/>
                </a:solidFill>
              </a:rPr>
              <a:t>— all 118 fields, filterable by object and by what must be filled — </a:t>
            </a:r>
            <a:pPr indent="0" marL="0">
              <a:buNone/>
            </a:pPr>
            <a:r>
              <a:rPr lang="en-US" sz="1300" dirty="0">
                <a:solidFill>
                  <a:srgbClr val="A8AEB4"/>
                </a:solidFill>
              </a:rPr>
              <a:t>comes with this deck as a web page and a spreadsheet.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89788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37B"/>
                </a:solidFill>
              </a:rPr>
              <a:t>Compiled from the v3 training manual only. It has not been compared against the Salesforce configuration — the org almost certainly enforces more than the manual documents.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51206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Appendix · all 118 fields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22529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8AEB4"/>
                </a:solidFill>
              </a:rPr>
              <a:t>Every field of the three objects, in the manual's own sections, with what makes each one mandatory.</a:t>
            </a:r>
            <a:endParaRPr lang="en-US" sz="1350" dirty="0"/>
          </a:p>
        </p:txBody>
      </p:sp>
      <p:sp>
        <p:nvSpPr>
          <p:cNvPr id="4" name="leg-0"/>
          <p:cNvSpPr/>
          <p:nvPr/>
        </p:nvSpPr>
        <p:spPr>
          <a:xfrm>
            <a:off x="566928" y="2651760"/>
            <a:ext cx="2606040" cy="1572768"/>
          </a:xfrm>
          <a:prstGeom prst="roundRect">
            <a:avLst>
              <a:gd name="adj" fmla="val 4651"/>
            </a:avLst>
          </a:prstGeom>
          <a:solidFill>
            <a:srgbClr val="1F252B"/>
          </a:solidFill>
          <a:ln w="9525">
            <a:solidFill>
              <a:srgbClr val="2E363E"/>
            </a:solidFill>
            <a:prstDash val="solid"/>
          </a:ln>
        </p:spPr>
      </p:sp>
      <p:sp>
        <p:nvSpPr>
          <p:cNvPr id="5" name="legbar-0"/>
          <p:cNvSpPr/>
          <p:nvPr/>
        </p:nvSpPr>
        <p:spPr>
          <a:xfrm>
            <a:off x="786384" y="2871216"/>
            <a:ext cx="274320" cy="914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3054096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Required to create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3419856"/>
            <a:ext cx="2167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8AEB4"/>
                </a:solidFill>
              </a:rPr>
              <a:t>Red asterisk on the New record form. The record will not save without it.</a:t>
            </a:r>
            <a:endParaRPr lang="en-US" sz="1100" dirty="0"/>
          </a:p>
        </p:txBody>
      </p:sp>
      <p:sp>
        <p:nvSpPr>
          <p:cNvPr id="8" name="leg-1"/>
          <p:cNvSpPr/>
          <p:nvPr/>
        </p:nvSpPr>
        <p:spPr>
          <a:xfrm>
            <a:off x="3374136" y="2651760"/>
            <a:ext cx="2606040" cy="1572768"/>
          </a:xfrm>
          <a:prstGeom prst="roundRect">
            <a:avLst>
              <a:gd name="adj" fmla="val 4651"/>
            </a:avLst>
          </a:prstGeom>
          <a:solidFill>
            <a:srgbClr val="1F252B"/>
          </a:solidFill>
          <a:ln w="9525">
            <a:solidFill>
              <a:srgbClr val="2E363E"/>
            </a:solidFill>
            <a:prstDash val="solid"/>
          </a:ln>
        </p:spPr>
      </p:sp>
      <p:sp>
        <p:nvSpPr>
          <p:cNvPr id="9" name="legbar-1"/>
          <p:cNvSpPr/>
          <p:nvPr/>
        </p:nvSpPr>
        <p:spPr>
          <a:xfrm>
            <a:off x="3593592" y="2871216"/>
            <a:ext cx="274320" cy="91440"/>
          </a:xfrm>
          <a:prstGeom prst="roundRect">
            <a:avLst>
              <a:gd name="adj" fmla="val 50000"/>
            </a:avLst>
          </a:prstGeom>
          <a:solidFill>
            <a:srgbClr val="FF5710"/>
          </a:solidFill>
          <a:ln w="12700">
            <a:solidFill>
              <a:srgbClr val="FF571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93592" y="3054096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Key field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3419856"/>
            <a:ext cx="2167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8AEB4"/>
                </a:solidFill>
              </a:rPr>
              <a:t>Blocks the stage change until it is filled. Shown in the Key Fields panel.</a:t>
            </a:r>
            <a:endParaRPr lang="en-US" sz="1100" dirty="0"/>
          </a:p>
        </p:txBody>
      </p:sp>
      <p:sp>
        <p:nvSpPr>
          <p:cNvPr id="12" name="leg-2"/>
          <p:cNvSpPr/>
          <p:nvPr/>
        </p:nvSpPr>
        <p:spPr>
          <a:xfrm>
            <a:off x="6181344" y="2651760"/>
            <a:ext cx="2606040" cy="1572768"/>
          </a:xfrm>
          <a:prstGeom prst="roundRect">
            <a:avLst>
              <a:gd name="adj" fmla="val 4651"/>
            </a:avLst>
          </a:prstGeom>
          <a:solidFill>
            <a:srgbClr val="1F252B"/>
          </a:solidFill>
          <a:ln w="9525">
            <a:solidFill>
              <a:srgbClr val="2E363E"/>
            </a:solidFill>
            <a:prstDash val="solid"/>
          </a:ln>
        </p:spPr>
      </p:sp>
      <p:sp>
        <p:nvSpPr>
          <p:cNvPr id="13" name="legbar-2"/>
          <p:cNvSpPr/>
          <p:nvPr/>
        </p:nvSpPr>
        <p:spPr>
          <a:xfrm>
            <a:off x="6400800" y="2871216"/>
            <a:ext cx="274320" cy="91440"/>
          </a:xfrm>
          <a:prstGeom prst="roundRect">
            <a:avLst>
              <a:gd name="adj" fmla="val 50000"/>
            </a:avLst>
          </a:prstGeom>
          <a:solidFill>
            <a:srgbClr val="8A7F72"/>
          </a:solidFill>
          <a:ln w="12700">
            <a:solidFill>
              <a:srgbClr val="8A7F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3054096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System fills it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419856"/>
            <a:ext cx="2167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8AEB4"/>
                </a:solidFill>
              </a:rPr>
              <a:t>Inherited from the RFQ, rolled up from the lines, or auto-numbered.</a:t>
            </a:r>
            <a:endParaRPr lang="en-US" sz="1100" dirty="0"/>
          </a:p>
        </p:txBody>
      </p:sp>
      <p:sp>
        <p:nvSpPr>
          <p:cNvPr id="16" name="leg-3"/>
          <p:cNvSpPr/>
          <p:nvPr/>
        </p:nvSpPr>
        <p:spPr>
          <a:xfrm>
            <a:off x="8988552" y="2651760"/>
            <a:ext cx="2606040" cy="1572768"/>
          </a:xfrm>
          <a:prstGeom prst="roundRect">
            <a:avLst>
              <a:gd name="adj" fmla="val 4651"/>
            </a:avLst>
          </a:prstGeom>
          <a:solidFill>
            <a:srgbClr val="1F252B"/>
          </a:solidFill>
          <a:ln w="9525">
            <a:solidFill>
              <a:srgbClr val="2E363E"/>
            </a:solidFill>
            <a:prstDash val="solid"/>
          </a:ln>
        </p:spPr>
      </p:sp>
      <p:sp>
        <p:nvSpPr>
          <p:cNvPr id="17" name="legbar-3"/>
          <p:cNvSpPr/>
          <p:nvPr/>
        </p:nvSpPr>
        <p:spPr>
          <a:xfrm>
            <a:off x="9208008" y="2871216"/>
            <a:ext cx="274320" cy="914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08008" y="3054096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From the account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08008" y="3419856"/>
            <a:ext cx="2167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8AEB4"/>
                </a:solidFill>
              </a:rPr>
              <a:t>A read-only copy of the customer master, with an editable twin beside it.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517136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28A"/>
                </a:solidFill>
              </a:rPr>
              <a:t>A field with none of these marks is optional — nothing in the manual makes it mandatory. There are 84 of them, which is itself one of the open points.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89788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37B"/>
                </a:solidFill>
              </a:rPr>
              <a:t>The same 118 rows come with this deck as a spreadsheet, where they can be sorted and filtered.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RFQ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9 fields, exactly as the manual labels them — typos included, because that is what shows on screen and in reports.</a:t>
            </a:r>
            <a:endParaRPr lang="en-US" sz="13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10512"/>
          <a:ext cx="1102766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4663440"/>
                <a:gridCol w="1426464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Field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Type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Values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Must fill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18288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RFQ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RFQ Name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Required to create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Principal Project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Lookup → RFQ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Status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Same stage list as the Quote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Required to create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Close Date (EOP)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Date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Required to create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Probability (%)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RFQ Currency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EUR - Euro (default)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Required to create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Responsible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User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Account Name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Lookup → Account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Required to create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Lost Reason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Same list as the Quote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Quote Line Item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18 fields, exactly as the manual labels them — typos included, because that is what shows on screen and in reports.</a:t>
            </a:r>
            <a:endParaRPr lang="en-US" sz="13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10512"/>
          <a:ext cx="1102766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4663440"/>
                <a:gridCol w="1426464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Field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Type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Values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Must fill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18288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QUOTE LINE ITEM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Product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Lookup → Product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Required to create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Product Family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022107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Diameter/ Size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25,00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Length (mm)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80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Colour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NE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Customer PN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M.O.Q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Packing Info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Volume Units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PCE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Total Years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1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Price/Unit Quantity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1000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Payback Years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List Price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Currency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EUR 1,00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Quoted Price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Currency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EUR 50,00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Required to create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Target Price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Currency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Annual Quantity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10.000,00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Required to create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Price Discount in running business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Percent / Currency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Total Amount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Currency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EUR 500,00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Quote · Quote Information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22 fields, exactly as the manual labels them — typos included, because that is what shows on screen and in reports.</a:t>
            </a:r>
            <a:endParaRPr lang="en-US" sz="13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10512"/>
          <a:ext cx="1102766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4663440"/>
                <a:gridCol w="1426464"/>
              </a:tblGrid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Field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Type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Values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Must fill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17907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QUOTE INFORMATION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Quote Name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Required to create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Quote 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Auto 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Annual Purchasing Value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Currency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Account Name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Lookup → Account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Owner ID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User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RFQ Name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Lookup → RFQ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RFQ Customer Reference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Application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Drivetrain · Brakes wire harness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Key field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Selling plant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Relats Caldes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Incoterm Account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CPT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F5D5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From the account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Incoterm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CPT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Incoterm Destination Account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VIGNATE (Milano)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F5D5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From the account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Incoterm Location (city)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vignate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Payment term Account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Bank transfer 60 days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F5D5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From the account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Payment Terms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Bank transfer 10 days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Quote Currency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EUR - Euro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Platform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Model car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Propulsion Syst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Project type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Organic Growth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Key field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Type Organic Growth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New Project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NOTES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Long 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Quote · project, timings and samples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14 fields, exactly as the manual labels them — typos included, because that is what shows on screen and in reports.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10512"/>
          <a:ext cx="1102766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4663440"/>
                <a:gridCol w="1426464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Field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Type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Values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Must fill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18288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PROJECT INFORMATION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Sector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Auto · (others not shown)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OEM Auto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General · Maserati · BMW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Key field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Project IHS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Lookup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Project-IHS-General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OEM Industrial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Industrial Project Name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Project 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 / 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139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Key field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TIMINGS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Deadline to quote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Date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SOP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Date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EOP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Date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31/12/2030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Quotation Validity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Date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SAMPLES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Sample requested / analisys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Positive Feedback if samples sent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Sample code in SAP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APPROVAL KPIS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Minimum Pricebook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Lookup → Price Book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e.g. 01-04-Minimum price list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Quote · checks and new materials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16 fields, exactly as the manual labels them — typos included, because that is what shows on screen and in reports.</a:t>
            </a:r>
            <a:endParaRPr lang="en-US" sz="13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10512"/>
          <a:ext cx="1102766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4663440"/>
                <a:gridCol w="1426464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Field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Type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Values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Must fill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18288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INFORMATION TO CHECK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Is any special Quality requirement?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Is any special Technical requirement?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Is any special Logistic requirement?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Is any special packaging requirement?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Special requirement detail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Cheked with Tecom if needed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Tecom comments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Release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 / 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YES · (others not shown)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Release comment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NDA available?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GTC Updated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Contract/LOI/Evidencia Nominacion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 / 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YES · (others not shown)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Key field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NEW MATERIALS - BUSSINES FEASIBILITY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BF needed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BF status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--None-- · Pending · Approved · Refused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Business Feasibility 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SAP PS nº link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URL / 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Quote · economic agreements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19 fields, exactly as the manual labels them — typos included, because that is what shows on screen and in reports.</a:t>
            </a:r>
            <a:endParaRPr lang="en-US" sz="13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10512"/>
          <a:ext cx="1102766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4663440"/>
                <a:gridCol w="1426464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Field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Type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Values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Must fill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18288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ECONOMIC AGREMENTS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Quick Savings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Quick saving amount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Currency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Quick saving/bonus details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Rappels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Percent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Bonus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 / Currency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Investment needed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Investment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LTA (Annual Discount)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Percent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LTA (Years)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Comissions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Percent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Comission to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General Investment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Currency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Specific Investment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Currency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Payback Years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Pricebook Name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Lookup → Price Book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Relats plant–Customer number–Customer name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PREPARED FOR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Contact Name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Email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Email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Phone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Phone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Fax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Phone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20624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81C"/>
                </a:solidFill>
              </a:rPr>
              <a:t>Quote · feedback and the rest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107899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248"/>
                </a:solidFill>
              </a:rPr>
              <a:t>20 fields, exactly as the manual labels them — typos included, because that is what shows on screen and in reports.</a:t>
            </a:r>
            <a:endParaRPr lang="en-US" sz="13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10512"/>
          <a:ext cx="1102766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4663440"/>
                <a:gridCol w="1426464"/>
              </a:tblGrid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Field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Type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Values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Must fill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17907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FEEDBACK INFO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Customer feedback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Price OK?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 / 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Status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Approved · Closed Lost · …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Lost reason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Cancelled · Customer purchasing strategy · Declined to quote · Direct customer lost this opportunity · No capacity available · No meeting the technical specification · Other reason · Price · Time to market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Key field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Other lost reason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Lost reason comments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Action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Responsible name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Historical action plan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ADDITIONAL INFORMATION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Description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Principal Project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 / Lookup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Competitor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Kick-off nº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8A7F7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System fills it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KO Authorized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Is in MTP?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Checkbox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Budget Year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 / Number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KO Capacity Information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Text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rgbClr val="FF571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LANGUAGE AND CONDITIONS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E3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Language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Picklist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English · (others not shown)</a:t>
                      </a: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Terms and Conditions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Lookup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9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4181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Contact Person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A424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Lookup → User</a:t>
                      </a:r>
                      <a:endParaRPr lang="en-US" sz="8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1A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lats">
  <a:themeElements>
    <a:clrScheme name="Relats">
      <a:dk1>
        <a:srgbClr val="14181C"/>
      </a:dk1>
      <a:lt1>
        <a:srgbClr val="FFFFFF"/>
      </a:lt1>
      <a:dk2>
        <a:srgbClr val="3A4248"/>
      </a:dk2>
      <a:lt2>
        <a:srgbClr val="F4F1EC"/>
      </a:lt2>
      <a:accent1>
        <a:srgbClr val="FF5710"/>
      </a:accent1>
      <a:accent2>
        <a:srgbClr val="1F7A5C"/>
      </a:accent2>
      <a:accent3>
        <a:srgbClr val="C98A00"/>
      </a:accent3>
      <a:accent4>
        <a:srgbClr val="C0392B"/>
      </a:accent4>
      <a:accent5>
        <a:srgbClr val="2F5D50"/>
      </a:accent5>
      <a:accent6>
        <a:srgbClr val="8A7F72"/>
      </a:accent6>
      <a:hlink>
        <a:srgbClr val="FF5710"/>
      </a:hlink>
      <a:folHlink>
        <a:srgbClr val="8A7F72"/>
      </a:folHlink>
    </a:clrScheme>
    <a:fontScheme name="Rela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Relats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RFQ &amp; Quotes in Salesforce</dc:title>
  <dc:subject>Field reference and open points from the v3 training manual</dc:subject>
  <dc:creator>Relats · Digital</dc:creator>
  <cp:lastModifiedBy>Relats · Digital</cp:lastModifiedBy>
  <cp:revision>1</cp:revision>
  <dcterms:created xsi:type="dcterms:W3CDTF">2026-10-19T16:07:40Z</dcterms:created>
  <dcterms:modified xsi:type="dcterms:W3CDTF">2026-10-19T16:07:40Z</dcterms:modified>
</cp:coreProperties>
</file>