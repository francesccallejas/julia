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68442b9-ef9d-87d9-1533-9137b2bdeb11}">
          <p14:sldIdLst>
            <p14:sldId id="256"/>
          </p14:sldIdLst>
        </p14:section>
        <p14:section name="Summary" id="{5bcee6af-1ca4-744d-80a2-933020b9f454}">
          <p14:sldIdLst>
            <p14:sldId id="257"/>
          </p14:sldIdLst>
        </p14:section>
        <p14:section name="How the process runs" id="{10875bcf-c8f1-a259-9fb0-2b0433ef31bb}">
          <p14:sldIdLst>
            <p14:sldId id="258"/>
          </p14:sldIdLst>
        </p14:section>
        <p14:section name="What has to be filled" id="{337ceae2-6d55-cfda-0638-00d9c266ff68}">
          <p14:sldIdLst>
            <p14:sldId id="259"/>
          </p14:sldIdLst>
        </p14:section>
        <p14:section name="Step by step" id="{97776703-fc29-0410-a2b8-2c9700af270e}">
          <p14:sldIdLst>
            <p14:sldId id="260"/>
            <p14:sldId id="261"/>
          </p14:sldIdLst>
        </p14:section>
        <p14:section name="Master data" id="{f3046ef9-22c5-0576-83e2-a214d135858f}">
          <p14:sldIdLst>
            <p14:sldId id="262"/>
          </p14:sldIdLst>
        </p14:section>
        <p14:section name="Open points" id="{43ffe685-aeb1-26ca-7c4c-313768ad43c6}">
          <p14:sldIdLst>
            <p14:sldId id="263"/>
            <p14:sldId id="264"/>
          </p14:sldIdLst>
        </p14:section>
        <p14:section name="Next steps" id="{c9ab616b-1de2-4bf1-620f-897dbe26f5b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read of the v3 training manual, not of the Salesforce configuration. The org almost certainly enforces more than the manual documents — that gap is itself one of the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on the last slide follows from points 3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is explicit that the RFQ should be created the day the enquiry arrives, because the time in each stage is measured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 to 4 are all documented. Step 5 is the first place the manual stops telling you what blocks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3 is the one that belongs in the Price &amp; Margin Strategy initiative.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148132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300" kern="0" dirty="0">
                <a:solidFill>
                  <a:srgbClr val="FF5710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66928" y="1901952"/>
            <a:ext cx="96926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66928" y="3858768"/>
            <a:ext cx="8595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A8AE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5907024"/>
            <a:ext cx="8595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150" kern="0" dirty="0">
                <a:solidFill>
                  <a:srgbClr val="7A828A"/>
                </a:solidFill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pic>
        <p:nvPicPr>
          <p:cNvPr id="6" name="Image 0" descr="/home/user/Julia/salesforce/_src/deck/rel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475488"/>
            <a:ext cx="429768" cy="4754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4181C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3A4248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4" name="Text 0"/>
          <p:cNvSpPr/>
          <p:nvPr/>
        </p:nvSpPr>
        <p:spPr>
          <a:xfrm>
            <a:off x="566928" y="6400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A1A8"/>
                </a:solidFill>
              </a:rPr>
              <a:t>Relats · RFQ &amp; Quotes · from the v3 training manual</a:t>
            </a:r>
            <a:endParaRPr lang="en-US" sz="950" dirty="0"/>
          </a:p>
        </p:txBody>
      </p:sp>
      <p:pic>
        <p:nvPicPr>
          <p:cNvPr id="5" name="Image 0" descr="/home/user/Julia/salesforce/_src/deck/rel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696" y="6364224"/>
            <a:ext cx="274320" cy="3017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512064"/>
            <a:ext cx="1088136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225296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A8AEB4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pic>
        <p:nvPicPr>
          <p:cNvPr id="4" name="Image 0" descr="/home/user/Julia/salesforce/_src/deck/rel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696" y="6364224"/>
            <a:ext cx="274320" cy="30175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14813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5710"/>
                </a:solidFill>
              </a:rPr>
              <a:t>SALESFORCE · SALES PROCESS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66928" y="1901952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RFQ &amp; Quotes</a:t>
            </a:r>
            <a:pPr algn="l" indent="0" marL="0">
              <a:buNone/>
            </a:pP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5710"/>
                </a:solidFill>
              </a:rPr>
              <a:t>What we ask people to fill in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66928" y="3858768"/>
            <a:ext cx="8595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8AEB4"/>
                </a:solidFill>
              </a:rPr>
              <a:t>Every field of the RFQ, Quote and Quote Line Item objects as the training manual defines them — and the twelve points the manual leaves open.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590702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50" kern="0" dirty="0">
                <a:solidFill>
                  <a:srgbClr val="7A828A"/>
                </a:solidFill>
              </a:rPr>
              <a:t>PREPARED FOR THE REGIONAL DIRECTOR  ·  OCTOBER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In one page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What the review covered, and what needs a decision from you.</a:t>
            </a:r>
            <a:endParaRPr lang="en-US" sz="1350" dirty="0"/>
          </a:p>
        </p:txBody>
      </p:sp>
      <p:sp>
        <p:nvSpPr>
          <p:cNvPr id="4" name="sum-0"/>
          <p:cNvSpPr/>
          <p:nvPr/>
        </p:nvSpPr>
        <p:spPr>
          <a:xfrm>
            <a:off x="566928" y="184708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5" name="disc-1"/>
          <p:cNvSpPr/>
          <p:nvPr/>
        </p:nvSpPr>
        <p:spPr>
          <a:xfrm>
            <a:off x="841248" y="2121408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95681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118 fields documented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4808" y="195681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RFQ, Quote and Quote Line Item, with what makes each one mandatory, which the system fills and which mirror the customer master data.</a:t>
            </a:r>
            <a:endParaRPr lang="en-US" sz="1250" dirty="0"/>
          </a:p>
        </p:txBody>
      </p:sp>
      <p:sp>
        <p:nvSpPr>
          <p:cNvPr id="9" name="sum-1"/>
          <p:cNvSpPr/>
          <p:nvPr/>
        </p:nvSpPr>
        <p:spPr>
          <a:xfrm>
            <a:off x="566928" y="294436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0" name="disc-2"/>
          <p:cNvSpPr/>
          <p:nvPr/>
        </p:nvSpPr>
        <p:spPr>
          <a:xfrm>
            <a:off x="841248" y="3218688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305409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Only 9 fields are truly mandatory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305409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process is light at entry and strict at the gates: six key fields block a stage change, and that is where quotes actually get stuck.</a:t>
            </a:r>
            <a:endParaRPr lang="en-US" sz="1250" dirty="0"/>
          </a:p>
        </p:txBody>
      </p:sp>
      <p:sp>
        <p:nvSpPr>
          <p:cNvPr id="14" name="sum-2"/>
          <p:cNvSpPr/>
          <p:nvPr/>
        </p:nvSpPr>
        <p:spPr>
          <a:xfrm>
            <a:off x="566928" y="404164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5" name="disc-3"/>
          <p:cNvSpPr/>
          <p:nvPr/>
        </p:nvSpPr>
        <p:spPr>
          <a:xfrm>
            <a:off x="841248" y="4315968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15137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Key fields are written down for 1 stage out of 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15137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People discover the other eleven by hitting a red error. This is the cheapest, highest-value fix in the whole review.</a:t>
            </a:r>
            <a:endParaRPr lang="en-US" sz="1250" dirty="0"/>
          </a:p>
        </p:txBody>
      </p:sp>
      <p:sp>
        <p:nvSpPr>
          <p:cNvPr id="19" name="sum-3"/>
          <p:cNvSpPr/>
          <p:nvPr/>
        </p:nvSpPr>
        <p:spPr>
          <a:xfrm>
            <a:off x="566928" y="513892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0" name="disc-4"/>
          <p:cNvSpPr/>
          <p:nvPr/>
        </p:nvSpPr>
        <p:spPr>
          <a:xfrm>
            <a:off x="841248" y="5413248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4865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 code with no minimum price passes approval at any price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524865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manual states it: no minimum means zero, and any price clears the control. Worth knowing how many quoted codes are in that position.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One RFQ, one quote, twelve stages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Part A moves freely. Once approved you are in part B, and changing anything that was approved means reopening the quote — back to Valoration, and a new approval.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5710"/>
                </a:solidFill>
              </a:rPr>
              <a:t>PART A · BEFORE APPROVAL  ·  the quote can still be changed freely</a:t>
            </a:r>
            <a:endParaRPr lang="en-US" sz="1000" dirty="0"/>
          </a:p>
        </p:txBody>
      </p:sp>
      <p:sp>
        <p:nvSpPr>
          <p:cNvPr id="5" name="A0"/>
          <p:cNvSpPr/>
          <p:nvPr/>
        </p:nvSpPr>
        <p:spPr>
          <a:xfrm>
            <a:off x="56692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New</a:t>
            </a:r>
            <a:endParaRPr lang="en-US" sz="1350" dirty="0"/>
          </a:p>
        </p:txBody>
      </p:sp>
      <p:sp>
        <p:nvSpPr>
          <p:cNvPr id="8" name="A1"/>
          <p:cNvSpPr/>
          <p:nvPr/>
        </p:nvSpPr>
        <p:spPr>
          <a:xfrm>
            <a:off x="335584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044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02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Valoration</a:t>
            </a:r>
            <a:endParaRPr lang="en-US" sz="1350" dirty="0"/>
          </a:p>
        </p:txBody>
      </p:sp>
      <p:sp>
        <p:nvSpPr>
          <p:cNvPr id="11" name="A2"/>
          <p:cNvSpPr/>
          <p:nvPr/>
        </p:nvSpPr>
        <p:spPr>
          <a:xfrm>
            <a:off x="614476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0936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03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Waiting business feasibility</a:t>
            </a:r>
            <a:endParaRPr lang="en-US" sz="1350" dirty="0"/>
          </a:p>
        </p:txBody>
      </p:sp>
      <p:sp>
        <p:nvSpPr>
          <p:cNvPr id="14" name="A3"/>
          <p:cNvSpPr/>
          <p:nvPr/>
        </p:nvSpPr>
        <p:spPr>
          <a:xfrm>
            <a:off x="893368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09828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04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In approval process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12724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7A5C"/>
                </a:solidFill>
              </a:rPr>
              <a:t>PART B · AFTER APPROVAL  ·  any change here means reopening the quote</a:t>
            </a:r>
            <a:endParaRPr lang="en-US" sz="1000" dirty="0"/>
          </a:p>
        </p:txBody>
      </p:sp>
      <p:sp>
        <p:nvSpPr>
          <p:cNvPr id="18" name="B0"/>
          <p:cNvSpPr/>
          <p:nvPr/>
        </p:nvSpPr>
        <p:spPr>
          <a:xfrm>
            <a:off x="56692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05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Approved</a:t>
            </a:r>
            <a:endParaRPr lang="en-US" sz="1250" dirty="0"/>
          </a:p>
        </p:txBody>
      </p:sp>
      <p:sp>
        <p:nvSpPr>
          <p:cNvPr id="21" name="B1"/>
          <p:cNvSpPr/>
          <p:nvPr/>
        </p:nvSpPr>
        <p:spPr>
          <a:xfrm>
            <a:off x="242620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257251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06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57251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Quoted 25%</a:t>
            </a:r>
            <a:endParaRPr lang="en-US" sz="1250" dirty="0"/>
          </a:p>
        </p:txBody>
      </p:sp>
      <p:sp>
        <p:nvSpPr>
          <p:cNvPr id="24" name="B2"/>
          <p:cNvSpPr/>
          <p:nvPr/>
        </p:nvSpPr>
        <p:spPr>
          <a:xfrm>
            <a:off x="428548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43179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07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43179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50%</a:t>
            </a:r>
            <a:endParaRPr lang="en-US" sz="1250" dirty="0"/>
          </a:p>
        </p:txBody>
      </p:sp>
      <p:sp>
        <p:nvSpPr>
          <p:cNvPr id="27" name="B3"/>
          <p:cNvSpPr/>
          <p:nvPr/>
        </p:nvSpPr>
        <p:spPr>
          <a:xfrm>
            <a:off x="614476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29107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08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75%</a:t>
            </a:r>
            <a:endParaRPr lang="en-US" sz="1250" dirty="0"/>
          </a:p>
        </p:txBody>
      </p:sp>
      <p:sp>
        <p:nvSpPr>
          <p:cNvPr id="30" name="B4"/>
          <p:cNvSpPr/>
          <p:nvPr/>
        </p:nvSpPr>
        <p:spPr>
          <a:xfrm>
            <a:off x="800404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15035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09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815035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90%</a:t>
            </a:r>
            <a:endParaRPr lang="en-US" sz="1250" dirty="0"/>
          </a:p>
        </p:txBody>
      </p:sp>
      <p:sp>
        <p:nvSpPr>
          <p:cNvPr id="33" name="B5"/>
          <p:cNvSpPr/>
          <p:nvPr/>
        </p:nvSpPr>
        <p:spPr>
          <a:xfrm>
            <a:off x="986332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00963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10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0963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Awarded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526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</a:rPr>
              <a:t>EVERY QUOTE ENDS IN ONE OF THESE</a:t>
            </a:r>
            <a:endParaRPr lang="en-US" sz="1000" dirty="0"/>
          </a:p>
        </p:txBody>
      </p:sp>
      <p:sp>
        <p:nvSpPr>
          <p:cNvPr id="37" name="E0"/>
          <p:cNvSpPr/>
          <p:nvPr/>
        </p:nvSpPr>
        <p:spPr>
          <a:xfrm>
            <a:off x="566928" y="4828032"/>
            <a:ext cx="208483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49808" y="48280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Running</a:t>
            </a:r>
            <a:endParaRPr lang="en-US" sz="1300" dirty="0"/>
          </a:p>
        </p:txBody>
      </p:sp>
      <p:sp>
        <p:nvSpPr>
          <p:cNvPr id="39" name="E1"/>
          <p:cNvSpPr/>
          <p:nvPr/>
        </p:nvSpPr>
        <p:spPr>
          <a:xfrm>
            <a:off x="2816352" y="4828032"/>
            <a:ext cx="208483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999232" y="48280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Closed lost</a:t>
            </a:r>
            <a:endParaRPr lang="en-US" sz="1300" dirty="0"/>
          </a:p>
        </p:txBody>
      </p:sp>
      <p:sp>
        <p:nvSpPr>
          <p:cNvPr id="41" name="rule"/>
          <p:cNvSpPr/>
          <p:nvPr/>
        </p:nvSpPr>
        <p:spPr>
          <a:xfrm>
            <a:off x="5413248" y="4544568"/>
            <a:ext cx="6181344" cy="1024128"/>
          </a:xfrm>
          <a:prstGeom prst="roundRect">
            <a:avLst>
              <a:gd name="adj" fmla="val 714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96128" y="4599432"/>
            <a:ext cx="5815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Reopening is the expensive move.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Changing materials, quantities, price or payment terms after approval sends the quote back to Valoration and through the DOA again. An awarded quote already has a Kick Off, so operations has to be told through Chatter.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118 fields, 9 of them mandatory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The process asks for very little to start and a great deal to finish. That is a sound design — as long as people know where the gates are.</a:t>
            </a:r>
            <a:endParaRPr lang="en-US" sz="1350" dirty="0"/>
          </a:p>
        </p:txBody>
      </p:sp>
      <p:sp>
        <p:nvSpPr>
          <p:cNvPr id="4" name="stat-0"/>
          <p:cNvSpPr/>
          <p:nvPr/>
        </p:nvSpPr>
        <p:spPr>
          <a:xfrm>
            <a:off x="566928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0392B"/>
                </a:solidFill>
              </a:rPr>
              <a:t>9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Required to create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Red asterisk on the form. The record will not save without them.</a:t>
            </a:r>
            <a:endParaRPr lang="en-US" sz="1100" dirty="0"/>
          </a:p>
        </p:txBody>
      </p:sp>
      <p:sp>
        <p:nvSpPr>
          <p:cNvPr id="8" name="stat-1"/>
          <p:cNvSpPr/>
          <p:nvPr/>
        </p:nvSpPr>
        <p:spPr>
          <a:xfrm>
            <a:off x="2805379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88259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710"/>
                </a:solidFill>
              </a:rPr>
              <a:t>6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2988259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Key fields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88259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Block a stage change until filled. Shown in the Key Fields panel.</a:t>
            </a:r>
            <a:endParaRPr lang="en-US" sz="1100" dirty="0"/>
          </a:p>
        </p:txBody>
      </p:sp>
      <p:sp>
        <p:nvSpPr>
          <p:cNvPr id="12" name="stat-2"/>
          <p:cNvSpPr/>
          <p:nvPr/>
        </p:nvSpPr>
        <p:spPr>
          <a:xfrm>
            <a:off x="5043830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26710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A7F72"/>
                </a:solidFill>
              </a:rPr>
              <a:t>16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5226710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Filled by the system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26710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Inherited from the RFQ, rolled up from the lines or auto-numbered.</a:t>
            </a:r>
            <a:endParaRPr lang="en-US" sz="1100" dirty="0"/>
          </a:p>
        </p:txBody>
      </p:sp>
      <p:sp>
        <p:nvSpPr>
          <p:cNvPr id="16" name="stat-3"/>
          <p:cNvSpPr/>
          <p:nvPr/>
        </p:nvSpPr>
        <p:spPr>
          <a:xfrm>
            <a:off x="7282282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65162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F5D50"/>
                </a:solidFill>
              </a:rPr>
              <a:t>3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7465162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Mirrored from account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465162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Read-only copies of the customer master, each with an editable twin.</a:t>
            </a:r>
            <a:endParaRPr lang="en-US" sz="1100" dirty="0"/>
          </a:p>
        </p:txBody>
      </p:sp>
      <p:sp>
        <p:nvSpPr>
          <p:cNvPr id="20" name="stat-4"/>
          <p:cNvSpPr/>
          <p:nvPr/>
        </p:nvSpPr>
        <p:spPr>
          <a:xfrm>
            <a:off x="9520733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03613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9AA1A8"/>
                </a:solidFill>
              </a:rPr>
              <a:t>84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9703613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Optional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703613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Nothing in the manual makes them mandatory — which is itself a question.</a:t>
            </a:r>
            <a:endParaRPr lang="en-US" sz="1100" dirty="0"/>
          </a:p>
        </p:txBody>
      </p:sp>
      <p:sp>
        <p:nvSpPr>
          <p:cNvPr id="24" name="obj-0"/>
          <p:cNvSpPr/>
          <p:nvPr/>
        </p:nvSpPr>
        <p:spPr>
          <a:xfrm>
            <a:off x="566928" y="4407408"/>
            <a:ext cx="3553968" cy="1243584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" y="4535424"/>
            <a:ext cx="3151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RFQ   </a:t>
            </a:r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9 fields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82896"/>
            <a:ext cx="3151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minimum the system needs. All the detail lives on the quote.</a:t>
            </a:r>
            <a:endParaRPr lang="en-US" sz="1150" dirty="0"/>
          </a:p>
        </p:txBody>
      </p:sp>
      <p:sp>
        <p:nvSpPr>
          <p:cNvPr id="27" name="obj-1"/>
          <p:cNvSpPr/>
          <p:nvPr/>
        </p:nvSpPr>
        <p:spPr>
          <a:xfrm>
            <a:off x="4303776" y="4407408"/>
            <a:ext cx="3553968" cy="1243584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04944" y="4535424"/>
            <a:ext cx="3151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Quote   </a:t>
            </a:r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91 fields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04944" y="4882896"/>
            <a:ext cx="3151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Across eleven sections, from economic agreements to business feasibility.</a:t>
            </a:r>
            <a:endParaRPr lang="en-US" sz="1150" dirty="0"/>
          </a:p>
        </p:txBody>
      </p:sp>
      <p:sp>
        <p:nvSpPr>
          <p:cNvPr id="30" name="obj-2"/>
          <p:cNvSpPr/>
          <p:nvPr/>
        </p:nvSpPr>
        <p:spPr>
          <a:xfrm>
            <a:off x="8040624" y="4407408"/>
            <a:ext cx="3553968" cy="1243584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41792" y="4535424"/>
            <a:ext cx="3151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Quote Line Item   </a:t>
            </a:r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18 fields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41792" y="4882896"/>
            <a:ext cx="3151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Three are mandatory: product, quoted price and annual quantity.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Step by step · from the enquiry to the approval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What has to be filled at each stage, in the order the manual fills it. Part A is where all the work is.</a:t>
            </a:r>
            <a:endParaRPr lang="en-US" sz="1350" dirty="0"/>
          </a:p>
        </p:txBody>
      </p:sp>
      <p:sp>
        <p:nvSpPr>
          <p:cNvPr id="4" name="step-1"/>
          <p:cNvSpPr/>
          <p:nvPr/>
        </p:nvSpPr>
        <p:spPr>
          <a:xfrm>
            <a:off x="566928" y="182880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5" name="disc-1"/>
          <p:cNvSpPr/>
          <p:nvPr/>
        </p:nvSpPr>
        <p:spPr>
          <a:xfrm>
            <a:off x="804672" y="1965960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82880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Before the quote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RFQ</a:t>
            </a:r>
            <a:endParaRPr lang="en-US" sz="1250" dirty="0"/>
          </a:p>
        </p:txBody>
      </p:sp>
      <p:sp>
        <p:nvSpPr>
          <p:cNvPr id="8" name="fields-1"/>
          <p:cNvSpPr/>
          <p:nvPr/>
        </p:nvSpPr>
        <p:spPr>
          <a:xfrm>
            <a:off x="3803904" y="192024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68496" y="192024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RFQ Name · Account Name · RFQ Currency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Close Date (EOP) · Status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182880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Account Name must be the CHILD account with the right Relats plant. That and the currency decide the selling plant and which price books you will see — wrong here means starting over.</a:t>
            </a:r>
            <a:endParaRPr lang="en-US" sz="1050" dirty="0"/>
          </a:p>
        </p:txBody>
      </p:sp>
      <p:sp>
        <p:nvSpPr>
          <p:cNvPr id="11" name="step-2"/>
          <p:cNvSpPr/>
          <p:nvPr/>
        </p:nvSpPr>
        <p:spPr>
          <a:xfrm>
            <a:off x="566928" y="2578608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2" name="disc-2"/>
          <p:cNvSpPr/>
          <p:nvPr/>
        </p:nvSpPr>
        <p:spPr>
          <a:xfrm>
            <a:off x="804672" y="2715768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7860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NEW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create the quote</a:t>
            </a:r>
            <a:endParaRPr lang="en-US" sz="1250" dirty="0"/>
          </a:p>
        </p:txBody>
      </p:sp>
      <p:sp>
        <p:nvSpPr>
          <p:cNvPr id="15" name="fields-2"/>
          <p:cNvSpPr/>
          <p:nvPr/>
        </p:nvSpPr>
        <p:spPr>
          <a:xfrm>
            <a:off x="3803904" y="2670048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68496" y="2670048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Quote Name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2578608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only field the quote needs to exist. Everything else is filled in as you go.</a:t>
            </a:r>
            <a:endParaRPr lang="en-US" sz="1050" dirty="0"/>
          </a:p>
        </p:txBody>
      </p:sp>
      <p:sp>
        <p:nvSpPr>
          <p:cNvPr id="18" name="step-3"/>
          <p:cNvSpPr/>
          <p:nvPr/>
        </p:nvSpPr>
        <p:spPr>
          <a:xfrm>
            <a:off x="566928" y="3328416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9" name="disc-3"/>
          <p:cNvSpPr/>
          <p:nvPr/>
        </p:nvSpPr>
        <p:spPr>
          <a:xfrm>
            <a:off x="804672" y="3465576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328416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VALORATION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one documented gate</a:t>
            </a:r>
            <a:endParaRPr lang="en-US" sz="1250" dirty="0"/>
          </a:p>
        </p:txBody>
      </p:sp>
      <p:sp>
        <p:nvSpPr>
          <p:cNvPr id="22" name="fields-3"/>
          <p:cNvSpPr/>
          <p:nvPr/>
        </p:nvSpPr>
        <p:spPr>
          <a:xfrm>
            <a:off x="3803904" y="3419856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68496" y="3419856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Application · Project type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OEM Auto · Project 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119872" y="3328416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four Key Fields. They sit in the Key Fields panel at the top of the quote and can be edited straight from there.</a:t>
            </a:r>
            <a:endParaRPr lang="en-US" sz="1050" dirty="0"/>
          </a:p>
        </p:txBody>
      </p:sp>
      <p:sp>
        <p:nvSpPr>
          <p:cNvPr id="25" name="step-4"/>
          <p:cNvSpPr/>
          <p:nvPr/>
        </p:nvSpPr>
        <p:spPr>
          <a:xfrm>
            <a:off x="566928" y="4078224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6" name="disc-4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0782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VALORATION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price book, then lines</a:t>
            </a:r>
            <a:endParaRPr lang="en-US" sz="1250" dirty="0"/>
          </a:p>
        </p:txBody>
      </p:sp>
      <p:sp>
        <p:nvSpPr>
          <p:cNvPr id="29" name="fields-4"/>
          <p:cNvSpPr/>
          <p:nvPr/>
        </p:nvSpPr>
        <p:spPr>
          <a:xfrm>
            <a:off x="3803904" y="4169664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68496" y="4169664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Pricebook Name, then per line: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Product · Quoted Price · Annual Quantity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119872" y="4078224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One price book per quote, chosen before the first line — only its codes can be quoted. Customer PN, M.O.Q and packing info go on the same screen.</a:t>
            </a:r>
            <a:endParaRPr lang="en-US" sz="1050" dirty="0"/>
          </a:p>
        </p:txBody>
      </p:sp>
      <p:sp>
        <p:nvSpPr>
          <p:cNvPr id="32" name="step-5"/>
          <p:cNvSpPr/>
          <p:nvPr/>
        </p:nvSpPr>
        <p:spPr>
          <a:xfrm>
            <a:off x="566928" y="4828032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33" name="disc-5"/>
          <p:cNvSpPr/>
          <p:nvPr/>
        </p:nvSpPr>
        <p:spPr>
          <a:xfrm>
            <a:off x="804672" y="4965192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482803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IN APPROVAL PROCESS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submit</a:t>
            </a:r>
            <a:endParaRPr lang="en-US" sz="1250" dirty="0"/>
          </a:p>
        </p:txBody>
      </p:sp>
      <p:sp>
        <p:nvSpPr>
          <p:cNvPr id="36" name="fields-5"/>
          <p:cNvSpPr/>
          <p:nvPr/>
        </p:nvSpPr>
        <p:spPr>
          <a:xfrm>
            <a:off x="3803904" y="4919472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0EEEB"/>
          </a:solidFill>
          <a:ln w="9525">
            <a:solidFill>
              <a:srgbClr val="DAD5C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968496" y="4919472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178"/>
                </a:solidFill>
              </a:rPr>
              <a:t>nothing new to fill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19872" y="4828032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But the DOA reads Annual Purchase Value, LTA, bonus, commissions and payment terms. Only the quote owner or the RFQ owner may submit.</a:t>
            </a:r>
            <a:endParaRPr lang="en-US" sz="1050" dirty="0"/>
          </a:p>
        </p:txBody>
      </p:sp>
      <p:sp>
        <p:nvSpPr>
          <p:cNvPr id="39" name="detour"/>
          <p:cNvSpPr/>
          <p:nvPr/>
        </p:nvSpPr>
        <p:spPr>
          <a:xfrm>
            <a:off x="566928" y="5632704"/>
            <a:ext cx="11027664" cy="548640"/>
          </a:xfrm>
          <a:prstGeom prst="roundRect">
            <a:avLst>
              <a:gd name="adj" fmla="val 13333"/>
            </a:avLst>
          </a:prstGeom>
          <a:solidFill>
            <a:srgbClr val="FFF8F4"/>
          </a:solidFill>
          <a:ln w="9525">
            <a:solidFill>
              <a:srgbClr val="F0D9C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6384" y="5632704"/>
            <a:ext cx="10588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Optional detour · new material that needs a Business Feasibility. 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Add one line with the BF code, a quantity and an approximate price so the forecast carries an amount, then move to WAITING BUSINESS FEASIBILITY. Once approved: delete the BF line, create the real one, submit.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Step by step · from approved to closed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Past the approval the manual names the fields for AWARDED and CLOSED LOST. For the four ON GOING steps and RUNNING it names none.</a:t>
            </a:r>
            <a:endParaRPr lang="en-US" sz="1350" dirty="0"/>
          </a:p>
        </p:txBody>
      </p:sp>
      <p:sp>
        <p:nvSpPr>
          <p:cNvPr id="4" name="step-6"/>
          <p:cNvSpPr/>
          <p:nvPr/>
        </p:nvSpPr>
        <p:spPr>
          <a:xfrm>
            <a:off x="566928" y="182880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5" name="disc-6"/>
          <p:cNvSpPr/>
          <p:nvPr/>
        </p:nvSpPr>
        <p:spPr>
          <a:xfrm>
            <a:off x="804672" y="1965960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82880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APPROVED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generate the PDF</a:t>
            </a:r>
            <a:endParaRPr lang="en-US" sz="1250" dirty="0"/>
          </a:p>
        </p:txBody>
      </p:sp>
      <p:sp>
        <p:nvSpPr>
          <p:cNvPr id="8" name="fields-6"/>
          <p:cNvSpPr/>
          <p:nvPr/>
        </p:nvSpPr>
        <p:spPr>
          <a:xfrm>
            <a:off x="3803904" y="192024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68496" y="192024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Quote Language · Terms &amp; Conditions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Contact Person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182880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Only once approved. Contact Person prints as “Prepared by”; left empty, the quote owner is used. Each generation is kept as V1, V2… under Quote PDFs.</a:t>
            </a:r>
            <a:endParaRPr lang="en-US" sz="1050" dirty="0"/>
          </a:p>
        </p:txBody>
      </p:sp>
      <p:sp>
        <p:nvSpPr>
          <p:cNvPr id="11" name="step-7"/>
          <p:cNvSpPr/>
          <p:nvPr/>
        </p:nvSpPr>
        <p:spPr>
          <a:xfrm>
            <a:off x="566928" y="256032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2" name="disc-7"/>
          <p:cNvSpPr/>
          <p:nvPr/>
        </p:nvSpPr>
        <p:spPr>
          <a:xfrm>
            <a:off x="804672" y="269748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603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QUOTED 25% →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50 / 75 / 90%</a:t>
            </a:r>
            <a:endParaRPr lang="en-US" sz="1250" dirty="0"/>
          </a:p>
        </p:txBody>
      </p:sp>
      <p:sp>
        <p:nvSpPr>
          <p:cNvPr id="15" name="fields-7"/>
          <p:cNvSpPr/>
          <p:nvPr/>
        </p:nvSpPr>
        <p:spPr>
          <a:xfrm>
            <a:off x="3803904" y="265176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BEDEB"/>
          </a:solidFill>
          <a:ln w="9525">
            <a:solidFill>
              <a:srgbClr val="E8BCB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68496" y="265176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</a:rPr>
              <a:t>nothing documented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256032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Four stage changes in a row, and the manual names no field for any of them. This is the bulk of the gap.</a:t>
            </a:r>
            <a:endParaRPr lang="en-US" sz="1050" dirty="0"/>
          </a:p>
        </p:txBody>
      </p:sp>
      <p:sp>
        <p:nvSpPr>
          <p:cNvPr id="18" name="step-8"/>
          <p:cNvSpPr/>
          <p:nvPr/>
        </p:nvSpPr>
        <p:spPr>
          <a:xfrm>
            <a:off x="566928" y="329184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9" name="disc-8"/>
          <p:cNvSpPr/>
          <p:nvPr/>
        </p:nvSpPr>
        <p:spPr>
          <a:xfrm>
            <a:off x="804672" y="3429000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29184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AWARDED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evidence is mandatory</a:t>
            </a:r>
            <a:endParaRPr lang="en-US" sz="1250" dirty="0"/>
          </a:p>
        </p:txBody>
      </p:sp>
      <p:sp>
        <p:nvSpPr>
          <p:cNvPr id="22" name="fields-8"/>
          <p:cNvSpPr/>
          <p:nvPr/>
        </p:nvSpPr>
        <p:spPr>
          <a:xfrm>
            <a:off x="3803904" y="338328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68496" y="338328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Contract/LOI/Evidencia Nominacion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+ the document attached under Documents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119872" y="329184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Marking AWARDED creates the Kick Off automatically. Reopening an awarded quote means telling operations through Chatter — the KO already exists.</a:t>
            </a:r>
            <a:endParaRPr lang="en-US" sz="1050" dirty="0"/>
          </a:p>
        </p:txBody>
      </p:sp>
      <p:sp>
        <p:nvSpPr>
          <p:cNvPr id="25" name="step-9"/>
          <p:cNvSpPr/>
          <p:nvPr/>
        </p:nvSpPr>
        <p:spPr>
          <a:xfrm>
            <a:off x="566928" y="402336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6" name="disc-9"/>
          <p:cNvSpPr/>
          <p:nvPr/>
        </p:nvSpPr>
        <p:spPr>
          <a:xfrm>
            <a:off x="804672" y="416052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0233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RUNNING</a:t>
            </a:r>
            <a:endParaRPr lang="en-US" sz="1250" dirty="0"/>
          </a:p>
        </p:txBody>
      </p:sp>
      <p:sp>
        <p:nvSpPr>
          <p:cNvPr id="29" name="fields-9"/>
          <p:cNvSpPr/>
          <p:nvPr/>
        </p:nvSpPr>
        <p:spPr>
          <a:xfrm>
            <a:off x="3803904" y="411480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BEDEB"/>
          </a:solidFill>
          <a:ln w="9525">
            <a:solidFill>
              <a:srgbClr val="E8BCB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68496" y="411480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</a:rPr>
              <a:t>nothing documented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119872" y="402336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Moves when DACs confirm the orders have arrived. An end state.</a:t>
            </a:r>
            <a:endParaRPr lang="en-US" sz="1050" dirty="0"/>
          </a:p>
        </p:txBody>
      </p:sp>
      <p:sp>
        <p:nvSpPr>
          <p:cNvPr id="32" name="step-10"/>
          <p:cNvSpPr/>
          <p:nvPr/>
        </p:nvSpPr>
        <p:spPr>
          <a:xfrm>
            <a:off x="566928" y="475488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33" name="disc-10"/>
          <p:cNvSpPr/>
          <p:nvPr/>
        </p:nvSpPr>
        <p:spPr>
          <a:xfrm>
            <a:off x="804672" y="4892040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475488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CLOSED LOST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from any stage</a:t>
            </a:r>
            <a:endParaRPr lang="en-US" sz="1250" dirty="0"/>
          </a:p>
        </p:txBody>
      </p:sp>
      <p:sp>
        <p:nvSpPr>
          <p:cNvPr id="36" name="fields-10"/>
          <p:cNvSpPr/>
          <p:nvPr/>
        </p:nvSpPr>
        <p:spPr>
          <a:xfrm>
            <a:off x="3803904" y="484632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968496" y="484632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Lost reason · a comment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Other lost reason if “Other”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19872" y="475488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Nine lost reasons. Reporting on losses has to read both free-text boxes.</a:t>
            </a:r>
            <a:endParaRPr lang="en-US" sz="1050" dirty="0"/>
          </a:p>
        </p:txBody>
      </p:sp>
      <p:sp>
        <p:nvSpPr>
          <p:cNvPr id="39" name="gapnote"/>
          <p:cNvSpPr/>
          <p:nvPr/>
        </p:nvSpPr>
        <p:spPr>
          <a:xfrm>
            <a:off x="566928" y="5559552"/>
            <a:ext cx="11027664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9525">
            <a:solidFill>
              <a:srgbClr val="E8BCB6"/>
            </a:solidFill>
            <a:prstDash val="solid"/>
          </a:ln>
        </p:spPr>
      </p:sp>
      <p:sp>
        <p:nvSpPr>
          <p:cNvPr id="40" name="disc-!"/>
          <p:cNvSpPr/>
          <p:nvPr/>
        </p:nvSpPr>
        <p:spPr>
          <a:xfrm>
            <a:off x="822960" y="5696712"/>
            <a:ext cx="438912" cy="43891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56967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!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426464" y="5559552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These stages do have key fields — they are simply not written down.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Reading them off the validation rules and adding them to this walkthrough is half a day of work, and it is the single highest-return item in the review.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What comes from the customer, what you may override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A good design: the quote shows what the account carries, and lets you depart from it on purpose. The problem is that the screen never says which is which.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288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F5D50"/>
                </a:solidFill>
              </a:rPr>
              <a:t>FROM THE CUSTOMER MASTER · READ ONLY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510528" y="18288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5710"/>
                </a:solidFill>
              </a:rPr>
              <a:t>FOR THIS QUOTE · EDITABLE</a:t>
            </a:r>
            <a:endParaRPr lang="en-US" sz="1000" dirty="0"/>
          </a:p>
        </p:txBody>
      </p:sp>
      <p:sp>
        <p:nvSpPr>
          <p:cNvPr id="6" name="m-0"/>
          <p:cNvSpPr/>
          <p:nvPr/>
        </p:nvSpPr>
        <p:spPr>
          <a:xfrm>
            <a:off x="566928" y="215798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15798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Account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053328" y="215798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m2-0"/>
          <p:cNvSpPr/>
          <p:nvPr/>
        </p:nvSpPr>
        <p:spPr>
          <a:xfrm>
            <a:off x="6510528" y="2157984"/>
            <a:ext cx="5084064" cy="603504"/>
          </a:xfrm>
          <a:prstGeom prst="roundRect">
            <a:avLst>
              <a:gd name="adj" fmla="val 12121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48272" y="215798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</a:t>
            </a:r>
            <a:endParaRPr lang="en-US" sz="1300" dirty="0"/>
          </a:p>
        </p:txBody>
      </p:sp>
      <p:sp>
        <p:nvSpPr>
          <p:cNvPr id="11" name="m-1"/>
          <p:cNvSpPr/>
          <p:nvPr/>
        </p:nvSpPr>
        <p:spPr>
          <a:xfrm>
            <a:off x="566928" y="288950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88950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Destination Account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053328" y="288950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m2-1"/>
          <p:cNvSpPr/>
          <p:nvPr/>
        </p:nvSpPr>
        <p:spPr>
          <a:xfrm>
            <a:off x="6510528" y="2889504"/>
            <a:ext cx="5084064" cy="603504"/>
          </a:xfrm>
          <a:prstGeom prst="roundRect">
            <a:avLst>
              <a:gd name="adj" fmla="val 12121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48272" y="288950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Location (city)</a:t>
            </a:r>
            <a:endParaRPr lang="en-US" sz="1300" dirty="0"/>
          </a:p>
        </p:txBody>
      </p:sp>
      <p:sp>
        <p:nvSpPr>
          <p:cNvPr id="16" name="m-2"/>
          <p:cNvSpPr/>
          <p:nvPr/>
        </p:nvSpPr>
        <p:spPr>
          <a:xfrm>
            <a:off x="566928" y="362102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62102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Payment term Account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62102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m2-2"/>
          <p:cNvSpPr/>
          <p:nvPr/>
        </p:nvSpPr>
        <p:spPr>
          <a:xfrm>
            <a:off x="6510528" y="3621024"/>
            <a:ext cx="5084064" cy="603504"/>
          </a:xfrm>
          <a:prstGeom prst="roundRect">
            <a:avLst>
              <a:gd name="adj" fmla="val 12121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36210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Payment Terms</a:t>
            </a:r>
            <a:endParaRPr lang="en-US" sz="1300" dirty="0"/>
          </a:p>
        </p:txBody>
      </p:sp>
      <p:sp>
        <p:nvSpPr>
          <p:cNvPr id="21" name="m-3"/>
          <p:cNvSpPr/>
          <p:nvPr/>
        </p:nvSpPr>
        <p:spPr>
          <a:xfrm>
            <a:off x="566928" y="435254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35254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Selling plant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435254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m2-3"/>
          <p:cNvSpPr/>
          <p:nvPr/>
        </p:nvSpPr>
        <p:spPr>
          <a:xfrm>
            <a:off x="6510528" y="4352544"/>
            <a:ext cx="5084064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435254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— set by the child account you chose</a:t>
            </a:r>
            <a:endParaRPr lang="en-US" sz="1300" dirty="0"/>
          </a:p>
        </p:txBody>
      </p:sp>
      <p:sp>
        <p:nvSpPr>
          <p:cNvPr id="26" name="md-note"/>
          <p:cNvSpPr/>
          <p:nvPr/>
        </p:nvSpPr>
        <p:spPr>
          <a:xfrm>
            <a:off x="566928" y="5230368"/>
            <a:ext cx="110276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5303520"/>
            <a:ext cx="1055217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manual explains this in one sentence, on one slide.  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Nothing on the form marks the mirrored fields as read-only. A new joiner will try to edit “Incoterm Account” and not understand why it won't save. Renaming them — “Incoterm (customer standard)” — costs nothing and changes no data.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Three things that cost time or money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Found while transcribing the manual. These are the ones worth a decision.</a:t>
            </a:r>
            <a:endParaRPr lang="en-US" sz="1350" dirty="0"/>
          </a:p>
        </p:txBody>
      </p:sp>
      <p:sp>
        <p:nvSpPr>
          <p:cNvPr id="4" name="iss-0"/>
          <p:cNvSpPr/>
          <p:nvPr/>
        </p:nvSpPr>
        <p:spPr>
          <a:xfrm>
            <a:off x="566928" y="1847088"/>
            <a:ext cx="11027664" cy="1335024"/>
          </a:xfrm>
          <a:prstGeom prst="roundRect">
            <a:avLst>
              <a:gd name="adj" fmla="val 5479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5" name="disc-1"/>
          <p:cNvSpPr/>
          <p:nvPr/>
        </p:nvSpPr>
        <p:spPr>
          <a:xfrm>
            <a:off x="859536" y="2267712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2996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Key fields documented for one stage in twelve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423160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manual says “there are some fields required to pass to each stage”, then shows only the Valoration set. For the other eleven, people learn by trial and error.</a:t>
            </a:r>
            <a:endParaRPr lang="en-US" sz="1200" dirty="0"/>
          </a:p>
        </p:txBody>
      </p:sp>
      <p:sp>
        <p:nvSpPr>
          <p:cNvPr id="9" name="fix-0"/>
          <p:cNvSpPr/>
          <p:nvPr/>
        </p:nvSpPr>
        <p:spPr>
          <a:xfrm>
            <a:off x="8394192" y="2121408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58784" y="2121408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Read them off the validation rules · half a day</a:t>
            </a:r>
            <a:endParaRPr lang="en-US" sz="1150" dirty="0"/>
          </a:p>
        </p:txBody>
      </p:sp>
      <p:sp>
        <p:nvSpPr>
          <p:cNvPr id="11" name="iss-1"/>
          <p:cNvSpPr/>
          <p:nvPr/>
        </p:nvSpPr>
        <p:spPr>
          <a:xfrm>
            <a:off x="566928" y="3364992"/>
            <a:ext cx="11027664" cy="1335024"/>
          </a:xfrm>
          <a:prstGeom prst="roundRect">
            <a:avLst>
              <a:gd name="adj" fmla="val 5479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2" name="disc-2"/>
          <p:cNvSpPr/>
          <p:nvPr/>
        </p:nvSpPr>
        <p:spPr>
          <a:xfrm>
            <a:off x="859536" y="3785616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499616" y="354787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Project number blocks Valoration and appears on no screen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499616" y="39410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is in the Key Fields panel and in the quote header, but in none of the detail screenshots. Someone following the manual cannot find where to type it.</a:t>
            </a:r>
            <a:endParaRPr lang="en-US" sz="1200" dirty="0"/>
          </a:p>
        </p:txBody>
      </p:sp>
      <p:sp>
        <p:nvSpPr>
          <p:cNvPr id="16" name="fix-1"/>
          <p:cNvSpPr/>
          <p:nvPr/>
        </p:nvSpPr>
        <p:spPr>
          <a:xfrm>
            <a:off x="8394192" y="3639312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58784" y="3639312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Locate it and add it to the manual · one hour</a:t>
            </a:r>
            <a:endParaRPr lang="en-US" sz="1150" dirty="0"/>
          </a:p>
        </p:txBody>
      </p:sp>
      <p:sp>
        <p:nvSpPr>
          <p:cNvPr id="18" name="iss-2"/>
          <p:cNvSpPr/>
          <p:nvPr/>
        </p:nvSpPr>
        <p:spPr>
          <a:xfrm>
            <a:off x="566928" y="4882896"/>
            <a:ext cx="11027664" cy="1335024"/>
          </a:xfrm>
          <a:prstGeom prst="roundRect">
            <a:avLst>
              <a:gd name="adj" fmla="val 5479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9" name="disc-3"/>
          <p:cNvSpPr/>
          <p:nvPr/>
        </p:nvSpPr>
        <p:spPr>
          <a:xfrm>
            <a:off x="859536" y="530352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499616" y="5065776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A missing minimum price turns the price control off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5458968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manual states it plainly: with no minimum price the value counts as zero and any price passes approval. No warning, no trace.</a:t>
            </a:r>
            <a:endParaRPr lang="en-US" sz="1200" dirty="0"/>
          </a:p>
        </p:txBody>
      </p:sp>
      <p:sp>
        <p:nvSpPr>
          <p:cNvPr id="23" name="fix-2"/>
          <p:cNvSpPr/>
          <p:nvPr/>
        </p:nvSpPr>
        <p:spPr>
          <a:xfrm>
            <a:off x="8394192" y="5157216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58784" y="5157216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Count the quoted codes with no minimum · one query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Nine more, cheap to fix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None of these stops anyone working. Two of them are visible to customers.</a:t>
            </a:r>
            <a:endParaRPr lang="en-US" sz="1350" dirty="0"/>
          </a:p>
        </p:txBody>
      </p:sp>
      <p:sp>
        <p:nvSpPr>
          <p:cNvPr id="4" name="n-0"/>
          <p:cNvSpPr/>
          <p:nvPr/>
        </p:nvSpPr>
        <p:spPr>
          <a:xfrm>
            <a:off x="566928" y="1847088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993392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Two probabilities, no rule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450592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RFQ has Probability (%); the quote has 25 / 50 / 75 / 90 in the stage name. Which one feeds the forecast?</a:t>
            </a:r>
            <a:endParaRPr lang="en-US" sz="1100" dirty="0"/>
          </a:p>
        </p:txBody>
      </p:sp>
      <p:sp>
        <p:nvSpPr>
          <p:cNvPr id="7" name="n-1"/>
          <p:cNvSpPr/>
          <p:nvPr/>
        </p:nvSpPr>
        <p:spPr>
          <a:xfrm>
            <a:off x="4303776" y="1847088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4944" y="1993392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Two boxes for the lost reason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04944" y="2450592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“Other lost reason” and “Lost reason comments”. Reporting on losses has to read both.</a:t>
            </a:r>
            <a:endParaRPr lang="en-US" sz="1100" dirty="0"/>
          </a:p>
        </p:txBody>
      </p:sp>
      <p:sp>
        <p:nvSpPr>
          <p:cNvPr id="10" name="n-2"/>
          <p:cNvSpPr/>
          <p:nvPr/>
        </p:nvSpPr>
        <p:spPr>
          <a:xfrm>
            <a:off x="8040624" y="1847088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1792" y="1993392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Competitor is free text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41792" y="2450592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Exactly the field you want to group by later. It will carry every spelling of every name.</a:t>
            </a:r>
            <a:endParaRPr lang="en-US" sz="1100" dirty="0"/>
          </a:p>
        </p:txBody>
      </p:sp>
      <p:sp>
        <p:nvSpPr>
          <p:cNvPr id="13" name="n-3"/>
          <p:cNvSpPr/>
          <p:nvPr/>
        </p:nvSpPr>
        <p:spPr>
          <a:xfrm>
            <a:off x="566928" y="3346704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" y="3493008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location is free text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3950208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problem, on a field that prints on the customer quotation.</a:t>
            </a:r>
            <a:endParaRPr lang="en-US" sz="1100" dirty="0"/>
          </a:p>
        </p:txBody>
      </p:sp>
      <p:sp>
        <p:nvSpPr>
          <p:cNvPr id="16" name="n-4"/>
          <p:cNvSpPr/>
          <p:nvPr/>
        </p:nvSpPr>
        <p:spPr>
          <a:xfrm>
            <a:off x="4303776" y="3346704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04944" y="3493008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Four requirements, one detail box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04944" y="3950208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Quality, technical, logistic and packaging each have a checkbox but share one notes field.</a:t>
            </a:r>
            <a:endParaRPr lang="en-US" sz="1100" dirty="0"/>
          </a:p>
        </p:txBody>
      </p:sp>
      <p:sp>
        <p:nvSpPr>
          <p:cNvPr id="19" name="n-5"/>
          <p:cNvSpPr/>
          <p:nvPr/>
        </p:nvSpPr>
        <p:spPr>
          <a:xfrm>
            <a:off x="8040624" y="3346704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41792" y="3493008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UK decimal note reads backwards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41792" y="3950208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“English UK will use point per thousands and comma for decimals” is the Continental convention. It prints on quotations.</a:t>
            </a:r>
            <a:endParaRPr lang="en-US" sz="1100" dirty="0"/>
          </a:p>
        </p:txBody>
      </p:sp>
      <p:sp>
        <p:nvSpPr>
          <p:cNvPr id="22" name="n-6"/>
          <p:cNvSpPr/>
          <p:nvPr/>
        </p:nvSpPr>
        <p:spPr>
          <a:xfrm>
            <a:off x="566928" y="4846320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" y="4992624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Misspelled field labels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" y="5449824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Proyect Information · Economic Agrements · Comissions · Cheked with Tecom · Bussines feasibility.</a:t>
            </a:r>
            <a:endParaRPr lang="en-US" sz="1100" dirty="0"/>
          </a:p>
        </p:txBody>
      </p:sp>
      <p:sp>
        <p:nvSpPr>
          <p:cNvPr id="25" name="n-7"/>
          <p:cNvSpPr/>
          <p:nvPr/>
        </p:nvSpPr>
        <p:spPr>
          <a:xfrm>
            <a:off x="4303776" y="4846320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04944" y="4992624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One quote per RFQ is a rule, not a constraint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04944" y="5449824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Salesforce will take several. Reporting that assumes one-to-one can quietly drift.</a:t>
            </a:r>
            <a:endParaRPr lang="en-US" sz="1100" dirty="0"/>
          </a:p>
        </p:txBody>
      </p:sp>
      <p:sp>
        <p:nvSpPr>
          <p:cNvPr id="28" name="n-8"/>
          <p:cNvSpPr/>
          <p:nvPr/>
        </p:nvSpPr>
        <p:spPr>
          <a:xfrm>
            <a:off x="8040624" y="4846320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41792" y="4992624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Nobody is named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41792" y="5449824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manual mentions Tecom, DACs and operations but never says who fills what.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51206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we are asking for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22529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8AEB4"/>
                </a:solidFill>
              </a:rPr>
              <a:t>Three decisions and one owner. Everything else follows from them.</a:t>
            </a:r>
            <a:endParaRPr lang="en-US" sz="1350" dirty="0"/>
          </a:p>
        </p:txBody>
      </p:sp>
      <p:sp>
        <p:nvSpPr>
          <p:cNvPr id="4" name="ask-0"/>
          <p:cNvSpPr/>
          <p:nvPr/>
        </p:nvSpPr>
        <p:spPr>
          <a:xfrm>
            <a:off x="566928" y="2103120"/>
            <a:ext cx="3529584" cy="2377440"/>
          </a:xfrm>
          <a:prstGeom prst="roundRect">
            <a:avLst>
              <a:gd name="adj" fmla="val 3077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5" name="disc-1"/>
          <p:cNvSpPr/>
          <p:nvPr/>
        </p:nvSpPr>
        <p:spPr>
          <a:xfrm>
            <a:off x="804672" y="2322576"/>
            <a:ext cx="420624" cy="420624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895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Complete the key fields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364992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EB4"/>
                </a:solidFill>
              </a:rPr>
              <a:t>Document what blocks each of the twelve stages, from the validation rules, and put it in the next version of the manual.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413308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5710"/>
                </a:solidFill>
              </a:rPr>
              <a:t>Digital · half a day</a:t>
            </a:r>
            <a:endParaRPr lang="en-US" sz="1050" dirty="0"/>
          </a:p>
        </p:txBody>
      </p:sp>
      <p:sp>
        <p:nvSpPr>
          <p:cNvPr id="10" name="ask-1"/>
          <p:cNvSpPr/>
          <p:nvPr/>
        </p:nvSpPr>
        <p:spPr>
          <a:xfrm>
            <a:off x="4315968" y="2103120"/>
            <a:ext cx="3529584" cy="2377440"/>
          </a:xfrm>
          <a:prstGeom prst="roundRect">
            <a:avLst>
              <a:gd name="adj" fmla="val 3077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11" name="disc-2"/>
          <p:cNvSpPr/>
          <p:nvPr/>
        </p:nvSpPr>
        <p:spPr>
          <a:xfrm>
            <a:off x="4553712" y="2322576"/>
            <a:ext cx="420624" cy="420624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53712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8895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Decide on the minimum price gap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3364992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EB4"/>
                </a:solidFill>
              </a:rPr>
              <a:t>Either every quoted code carries a minimum, or we accept that some pass the control unchecked — but it should be a decision, not a side effect.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413308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5710"/>
                </a:solidFill>
              </a:rPr>
              <a:t>Commercial · your call</a:t>
            </a:r>
            <a:endParaRPr lang="en-US" sz="1050" dirty="0"/>
          </a:p>
        </p:txBody>
      </p:sp>
      <p:sp>
        <p:nvSpPr>
          <p:cNvPr id="16" name="ask-2"/>
          <p:cNvSpPr/>
          <p:nvPr/>
        </p:nvSpPr>
        <p:spPr>
          <a:xfrm>
            <a:off x="8065008" y="2103120"/>
            <a:ext cx="3529584" cy="2377440"/>
          </a:xfrm>
          <a:prstGeom prst="roundRect">
            <a:avLst>
              <a:gd name="adj" fmla="val 3077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17" name="disc-3"/>
          <p:cNvSpPr/>
          <p:nvPr/>
        </p:nvSpPr>
        <p:spPr>
          <a:xfrm>
            <a:off x="8302752" y="2322576"/>
            <a:ext cx="420624" cy="420624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2752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28895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Name an owner per field group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02752" y="3364992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EB4"/>
                </a:solidFill>
              </a:rPr>
              <a:t>Commercial, Tecom, DACs, operations. The manual names the teams but never says who fills what.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13308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5710"/>
                </a:solidFill>
              </a:rPr>
              <a:t>Regional Director · your call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791456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EB4"/>
                </a:solidFill>
              </a:rPr>
              <a:t>The full field reference </a:t>
            </a:r>
            <a:pPr indent="0" marL="0">
              <a:buNone/>
            </a:pPr>
            <a:r>
              <a:rPr lang="en-US" sz="1300" dirty="0">
                <a:solidFill>
                  <a:srgbClr val="7A828A"/>
                </a:solidFill>
              </a:rPr>
              <a:t>— all 118 fields, filterable by object and by what must be filled — </a:t>
            </a:r>
            <a:pPr indent="0" marL="0">
              <a:buNone/>
            </a:pPr>
            <a:r>
              <a:rPr lang="en-US" sz="1300" dirty="0">
                <a:solidFill>
                  <a:srgbClr val="A8AEB4"/>
                </a:solidFill>
              </a:rPr>
              <a:t>comes with this deck as a web page and a spreadsheet.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8978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7B"/>
                </a:solidFill>
              </a:rPr>
              <a:t>Compiled from the v3 training manual only. It has not been compared against the Salesforce configuration — the org almost certainly enforces more than the manual documents.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lats">
  <a:themeElements>
    <a:clrScheme name="Relats">
      <a:dk1>
        <a:srgbClr val="14181C"/>
      </a:dk1>
      <a:lt1>
        <a:srgbClr val="FFFFFF"/>
      </a:lt1>
      <a:dk2>
        <a:srgbClr val="3A4248"/>
      </a:dk2>
      <a:lt2>
        <a:srgbClr val="F4F1EC"/>
      </a:lt2>
      <a:accent1>
        <a:srgbClr val="FF5710"/>
      </a:accent1>
      <a:accent2>
        <a:srgbClr val="1F7A5C"/>
      </a:accent2>
      <a:accent3>
        <a:srgbClr val="C98A00"/>
      </a:accent3>
      <a:accent4>
        <a:srgbClr val="C0392B"/>
      </a:accent4>
      <a:accent5>
        <a:srgbClr val="2F5D50"/>
      </a:accent5>
      <a:accent6>
        <a:srgbClr val="8A7F72"/>
      </a:accent6>
      <a:hlink>
        <a:srgbClr val="FF5710"/>
      </a:hlink>
      <a:folHlink>
        <a:srgbClr val="8A7F72"/>
      </a:folHlink>
    </a:clrScheme>
    <a:fontScheme name="Rela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Relats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RFQ &amp; Quotes in Salesforce</dc:title>
  <dc:subject>Field reference and open points from the v3 training manual</dc:subject>
  <dc:creator>Relats · Digital</dc:creator>
  <cp:lastModifiedBy>Relats · Digital</cp:lastModifiedBy>
  <cp:revision>1</cp:revision>
  <dcterms:created xsi:type="dcterms:W3CDTF">2026-10-19T15:20:47Z</dcterms:created>
  <dcterms:modified xsi:type="dcterms:W3CDTF">2026-10-19T15:20:47Z</dcterms:modified>
</cp:coreProperties>
</file>