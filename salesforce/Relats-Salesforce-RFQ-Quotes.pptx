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5fbe857-5624-149d-7840-acd5e237a132}">
          <p14:sldIdLst>
            <p14:sldId id="256"/>
          </p14:sldIdLst>
        </p14:section>
        <p14:section name="Summary" id="{f2a846d4-b9e4-d687-f9cb-0956bf75cb1c}">
          <p14:sldIdLst>
            <p14:sldId id="257"/>
          </p14:sldIdLst>
        </p14:section>
        <p14:section name="How the process runs" id="{b8b347d7-2bea-b40e-9973-1d9745be079e}">
          <p14:sldIdLst>
            <p14:sldId id="258"/>
          </p14:sldIdLst>
        </p14:section>
        <p14:section name="What has to be filled" id="{853720ac-472f-9688-276a-300d7b90d7ad}">
          <p14:sldIdLst>
            <p14:sldId id="259"/>
            <p14:sldId id="260"/>
          </p14:sldIdLst>
        </p14:section>
        <p14:section name="Master data" id="{2c371052-c74a-f9d4-a67c-6255d808eeee}">
          <p14:sldIdLst>
            <p14:sldId id="261"/>
          </p14:sldIdLst>
        </p14:section>
        <p14:section name="Open points" id="{8909aa87-2b48-7553-fe8f-d69f6be822c9}">
          <p14:sldIdLst>
            <p14:sldId id="262"/>
            <p14:sldId id="263"/>
          </p14:sldIdLst>
        </p14:section>
        <p14:section name="Next steps" id="{9367b78a-7c68-0694-5def-5b177b7de62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read of the v3 training manual, not of the Salesforce configuration. The org almost certainly enforces more than the manual documents — that gap is itself one of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on the last slide follows from points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manual is explicit that the RFQ should be created the day the enquiry arrives, because the time in each stage is measured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3 is the one that belongs in the Price &amp; Margin Strategy initiative.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148132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rgbClr val="FF5710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1901952"/>
            <a:ext cx="96926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3858768"/>
            <a:ext cx="8595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A8AE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66928" y="5907024"/>
            <a:ext cx="8595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150" kern="0" dirty="0">
                <a:solidFill>
                  <a:srgbClr val="7A828A"/>
                </a:solidFill>
              </a:defRPr>
            </a:lvl1pPr>
          </a:lstStyle>
          <a:p>
            <a:pPr algn="l" indent="0" marL="0">
              <a:buNone/>
            </a:pPr>
            <a:endParaRPr lang="en-US" sz="1150" dirty="0"/>
          </a:p>
        </p:txBody>
      </p:sp>
      <p:pic>
        <p:nvPicPr>
          <p:cNvPr id="6" name="Image 0" descr="/home/user/Julia/salesforce/_src/deck/rel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4" y="475488"/>
            <a:ext cx="429768" cy="4754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4181C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3A4248"/>
                </a:solidFill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4" name="Text 0"/>
          <p:cNvSpPr/>
          <p:nvPr/>
        </p:nvSpPr>
        <p:spPr>
          <a:xfrm>
            <a:off x="566928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A1A8"/>
                </a:solidFill>
              </a:rPr>
              <a:t>Relats · RFQ &amp; Quotes · from the v3 training manual</a:t>
            </a:r>
            <a:endParaRPr lang="en-US" sz="950" dirty="0"/>
          </a:p>
        </p:txBody>
      </p:sp>
      <p:pic>
        <p:nvPicPr>
          <p:cNvPr id="5" name="Image 0" descr="/home/user/Julia/salesforce/_src/deck/rel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6364224"/>
            <a:ext cx="27432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512064"/>
            <a:ext cx="108813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225296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A8AEB4"/>
                </a:solidFill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pic>
        <p:nvPicPr>
          <p:cNvPr id="4" name="Image 0" descr="/home/user/Julia/salesforce/_src/deck/rel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6364224"/>
            <a:ext cx="274320" cy="3017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1481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710"/>
                </a:solidFill>
              </a:rPr>
              <a:t>SALESFORCE · SALES PROCESS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1901952"/>
            <a:ext cx="9692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RFQ &amp; Quotes</a:t>
            </a:r>
            <a:pPr algn="l" indent="0" marL="0">
              <a:buNone/>
            </a:pP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5710"/>
                </a:solidFill>
              </a:rPr>
              <a:t>What we ask people to fill in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3858768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EB4"/>
                </a:solidFill>
              </a:rPr>
              <a:t>Every field of the RFQ, Quote and Quote Line Item objects as the training manual defines them — and the twelve points the manual leaves open.</a:t>
            </a:r>
            <a:endParaRPr lang="en-US" sz="17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66928" y="59070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spc="150" kern="0" dirty="0">
                <a:solidFill>
                  <a:srgbClr val="7A828A"/>
                </a:solidFill>
              </a:rPr>
              <a:t>PREPARED FOR THE REGIONAL DIRECTOR  ·  OCTOBER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In one page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What the review covered, and what needs a decision from you.</a:t>
            </a:r>
            <a:endParaRPr lang="en-US" sz="1350" dirty="0"/>
          </a:p>
        </p:txBody>
      </p:sp>
      <p:sp>
        <p:nvSpPr>
          <p:cNvPr id="4" name="sum-0"/>
          <p:cNvSpPr/>
          <p:nvPr/>
        </p:nvSpPr>
        <p:spPr>
          <a:xfrm>
            <a:off x="566928" y="1847088"/>
            <a:ext cx="1102766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5" name="disc-1"/>
          <p:cNvSpPr/>
          <p:nvPr/>
        </p:nvSpPr>
        <p:spPr>
          <a:xfrm>
            <a:off x="841248" y="2121408"/>
            <a:ext cx="384048" cy="38404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95681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118 fields documented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95681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RFQ, Quote and Quote Line Item, with what makes each one mandatory, which the system fills and which mirror the customer master data.</a:t>
            </a:r>
            <a:endParaRPr lang="en-US" sz="1250" dirty="0"/>
          </a:p>
        </p:txBody>
      </p:sp>
      <p:sp>
        <p:nvSpPr>
          <p:cNvPr id="9" name="sum-1"/>
          <p:cNvSpPr/>
          <p:nvPr/>
        </p:nvSpPr>
        <p:spPr>
          <a:xfrm>
            <a:off x="566928" y="2944368"/>
            <a:ext cx="1102766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0" name="disc-2"/>
          <p:cNvSpPr/>
          <p:nvPr/>
        </p:nvSpPr>
        <p:spPr>
          <a:xfrm>
            <a:off x="841248" y="3218688"/>
            <a:ext cx="384048" cy="38404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08176" y="30540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Only 9 fields are truly mandatory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305409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process is light at entry and strict at the gates: six key fields block a stage change, and that is where quotes actually get stuck.</a:t>
            </a:r>
            <a:endParaRPr lang="en-US" sz="1250" dirty="0"/>
          </a:p>
        </p:txBody>
      </p:sp>
      <p:sp>
        <p:nvSpPr>
          <p:cNvPr id="14" name="sum-2"/>
          <p:cNvSpPr/>
          <p:nvPr/>
        </p:nvSpPr>
        <p:spPr>
          <a:xfrm>
            <a:off x="566928" y="4041648"/>
            <a:ext cx="1102766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5" name="disc-3"/>
          <p:cNvSpPr/>
          <p:nvPr/>
        </p:nvSpPr>
        <p:spPr>
          <a:xfrm>
            <a:off x="841248" y="4315968"/>
            <a:ext cx="384048" cy="384048"/>
          </a:xfrm>
          <a:prstGeom prst="ellipse">
            <a:avLst/>
          </a:prstGeom>
          <a:solidFill>
            <a:srgbClr val="FF5710"/>
          </a:solidFill>
          <a:ln w="12700">
            <a:solidFill>
              <a:srgbClr val="FF571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415137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Key fields are written down for 1 stage out of 12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15137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People discover the other eleven by hitting a red error. This is the cheapest, highest-value fix in the whole review.</a:t>
            </a:r>
            <a:endParaRPr lang="en-US" sz="1250" dirty="0"/>
          </a:p>
        </p:txBody>
      </p:sp>
      <p:sp>
        <p:nvSpPr>
          <p:cNvPr id="19" name="sum-3"/>
          <p:cNvSpPr/>
          <p:nvPr/>
        </p:nvSpPr>
        <p:spPr>
          <a:xfrm>
            <a:off x="566928" y="5138928"/>
            <a:ext cx="1102766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20" name="disc-4"/>
          <p:cNvSpPr/>
          <p:nvPr/>
        </p:nvSpPr>
        <p:spPr>
          <a:xfrm>
            <a:off x="841248" y="541324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5248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code with no minimum price passes approval at any price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524865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manual states it: no minimum means zero, and any price clears the control. Worth knowing how many quoted codes are in that position.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One RFQ, one quote, twelve stages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Part A moves freely. Once approved you are in part B, and changing anything that was approved means reopening the quote — back to Valoration, and a new approval.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5710"/>
                </a:solidFill>
              </a:rPr>
              <a:t>PART A · BEFORE APPROVAL  ·  the quote can still be changed freely</a:t>
            </a:r>
            <a:endParaRPr lang="en-US" sz="1000" dirty="0"/>
          </a:p>
        </p:txBody>
      </p:sp>
      <p:sp>
        <p:nvSpPr>
          <p:cNvPr id="5" name="A0"/>
          <p:cNvSpPr/>
          <p:nvPr/>
        </p:nvSpPr>
        <p:spPr>
          <a:xfrm>
            <a:off x="566928" y="2066544"/>
            <a:ext cx="2660904" cy="877824"/>
          </a:xfrm>
          <a:prstGeom prst="roundRect">
            <a:avLst>
              <a:gd name="adj" fmla="val 8333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710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New</a:t>
            </a:r>
            <a:endParaRPr lang="en-US" sz="1350" dirty="0"/>
          </a:p>
        </p:txBody>
      </p:sp>
      <p:sp>
        <p:nvSpPr>
          <p:cNvPr id="8" name="A1"/>
          <p:cNvSpPr/>
          <p:nvPr/>
        </p:nvSpPr>
        <p:spPr>
          <a:xfrm>
            <a:off x="3355848" y="2066544"/>
            <a:ext cx="2660904" cy="877824"/>
          </a:xfrm>
          <a:prstGeom prst="roundRect">
            <a:avLst>
              <a:gd name="adj" fmla="val 8333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710"/>
                </a:solidFill>
              </a:rPr>
              <a:t>02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Valoration</a:t>
            </a:r>
            <a:endParaRPr lang="en-US" sz="1350" dirty="0"/>
          </a:p>
        </p:txBody>
      </p:sp>
      <p:sp>
        <p:nvSpPr>
          <p:cNvPr id="11" name="A2"/>
          <p:cNvSpPr/>
          <p:nvPr/>
        </p:nvSpPr>
        <p:spPr>
          <a:xfrm>
            <a:off x="6144768" y="2066544"/>
            <a:ext cx="2660904" cy="877824"/>
          </a:xfrm>
          <a:prstGeom prst="roundRect">
            <a:avLst>
              <a:gd name="adj" fmla="val 8333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710"/>
                </a:solidFill>
              </a:rPr>
              <a:t>03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Waiting business feasibility</a:t>
            </a:r>
            <a:endParaRPr lang="en-US" sz="1350" dirty="0"/>
          </a:p>
        </p:txBody>
      </p:sp>
      <p:sp>
        <p:nvSpPr>
          <p:cNvPr id="14" name="A3"/>
          <p:cNvSpPr/>
          <p:nvPr/>
        </p:nvSpPr>
        <p:spPr>
          <a:xfrm>
            <a:off x="8933688" y="2066544"/>
            <a:ext cx="2660904" cy="877824"/>
          </a:xfrm>
          <a:prstGeom prst="roundRect">
            <a:avLst>
              <a:gd name="adj" fmla="val 8333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9828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710"/>
                </a:solidFill>
              </a:rPr>
              <a:t>04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In approval process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1272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7A5C"/>
                </a:solidFill>
              </a:rPr>
              <a:t>PART B · AFTER APPROVAL  ·  any change here means reopening the quote</a:t>
            </a:r>
            <a:endParaRPr lang="en-US" sz="1000" dirty="0"/>
          </a:p>
        </p:txBody>
      </p:sp>
      <p:sp>
        <p:nvSpPr>
          <p:cNvPr id="18" name="B0"/>
          <p:cNvSpPr/>
          <p:nvPr/>
        </p:nvSpPr>
        <p:spPr>
          <a:xfrm>
            <a:off x="56692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1323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05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Approved</a:t>
            </a:r>
            <a:endParaRPr lang="en-US" sz="1250" dirty="0"/>
          </a:p>
        </p:txBody>
      </p:sp>
      <p:sp>
        <p:nvSpPr>
          <p:cNvPr id="21" name="B1"/>
          <p:cNvSpPr/>
          <p:nvPr/>
        </p:nvSpPr>
        <p:spPr>
          <a:xfrm>
            <a:off x="242620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57251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06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57251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Quoted 25%</a:t>
            </a:r>
            <a:endParaRPr lang="en-US" sz="1250" dirty="0"/>
          </a:p>
        </p:txBody>
      </p:sp>
      <p:sp>
        <p:nvSpPr>
          <p:cNvPr id="24" name="B2"/>
          <p:cNvSpPr/>
          <p:nvPr/>
        </p:nvSpPr>
        <p:spPr>
          <a:xfrm>
            <a:off x="428548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43179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07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43179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 going 50%</a:t>
            </a:r>
            <a:endParaRPr lang="en-US" sz="1250" dirty="0"/>
          </a:p>
        </p:txBody>
      </p:sp>
      <p:sp>
        <p:nvSpPr>
          <p:cNvPr id="27" name="B3"/>
          <p:cNvSpPr/>
          <p:nvPr/>
        </p:nvSpPr>
        <p:spPr>
          <a:xfrm>
            <a:off x="614476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29107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08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 going 75%</a:t>
            </a:r>
            <a:endParaRPr lang="en-US" sz="1250" dirty="0"/>
          </a:p>
        </p:txBody>
      </p:sp>
      <p:sp>
        <p:nvSpPr>
          <p:cNvPr id="30" name="B4"/>
          <p:cNvSpPr/>
          <p:nvPr/>
        </p:nvSpPr>
        <p:spPr>
          <a:xfrm>
            <a:off x="800404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15035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09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15035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On going 90%</a:t>
            </a:r>
            <a:endParaRPr lang="en-US" sz="1250" dirty="0"/>
          </a:p>
        </p:txBody>
      </p:sp>
      <p:sp>
        <p:nvSpPr>
          <p:cNvPr id="33" name="B5"/>
          <p:cNvSpPr/>
          <p:nvPr/>
        </p:nvSpPr>
        <p:spPr>
          <a:xfrm>
            <a:off x="9863328" y="3410712"/>
            <a:ext cx="1731264" cy="877824"/>
          </a:xfrm>
          <a:prstGeom prst="roundRect">
            <a:avLst>
              <a:gd name="adj" fmla="val 8333"/>
            </a:avLst>
          </a:prstGeom>
          <a:solidFill>
            <a:srgbClr val="EAF3EF"/>
          </a:solidFill>
          <a:ln w="9525">
            <a:solidFill>
              <a:srgbClr val="BBD7CB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009632" y="3502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C"/>
                </a:solidFill>
              </a:rPr>
              <a:t>10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009632" y="3721608"/>
            <a:ext cx="1438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Awarded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526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EVERY QUOTE ENDS IN ONE OF THESE</a:t>
            </a:r>
            <a:endParaRPr lang="en-US" sz="1000" dirty="0"/>
          </a:p>
        </p:txBody>
      </p:sp>
      <p:sp>
        <p:nvSpPr>
          <p:cNvPr id="37" name="E0"/>
          <p:cNvSpPr/>
          <p:nvPr/>
        </p:nvSpPr>
        <p:spPr>
          <a:xfrm>
            <a:off x="566928" y="4828032"/>
            <a:ext cx="20848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49808" y="48280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Running</a:t>
            </a:r>
            <a:endParaRPr lang="en-US" sz="1300" dirty="0"/>
          </a:p>
        </p:txBody>
      </p:sp>
      <p:sp>
        <p:nvSpPr>
          <p:cNvPr id="39" name="E1"/>
          <p:cNvSpPr/>
          <p:nvPr/>
        </p:nvSpPr>
        <p:spPr>
          <a:xfrm>
            <a:off x="2816352" y="4828032"/>
            <a:ext cx="2084832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999232" y="48280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Closed lost</a:t>
            </a:r>
            <a:endParaRPr lang="en-US" sz="1300" dirty="0"/>
          </a:p>
        </p:txBody>
      </p:sp>
      <p:sp>
        <p:nvSpPr>
          <p:cNvPr id="41" name="rule"/>
          <p:cNvSpPr/>
          <p:nvPr/>
        </p:nvSpPr>
        <p:spPr>
          <a:xfrm>
            <a:off x="5413248" y="4544568"/>
            <a:ext cx="6181344" cy="1024128"/>
          </a:xfrm>
          <a:prstGeom prst="roundRect">
            <a:avLst>
              <a:gd name="adj" fmla="val 7143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96128" y="4599432"/>
            <a:ext cx="5815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Reopening is the expensive move.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Changing materials, quantities, price or payment terms after approval sends the quote back to Valoration and through the DOA again. An awarded quote already has a Kick Off, so operations has to be told through Chatter.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118 fields, 9 of them mandatory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The process asks for very little to start and a great deal to finish. That is a sound design — as long as people know where the gates are.</a:t>
            </a:r>
            <a:endParaRPr lang="en-US" sz="1350" dirty="0"/>
          </a:p>
        </p:txBody>
      </p:sp>
      <p:sp>
        <p:nvSpPr>
          <p:cNvPr id="4" name="stat-0"/>
          <p:cNvSpPr/>
          <p:nvPr/>
        </p:nvSpPr>
        <p:spPr>
          <a:xfrm>
            <a:off x="566928" y="1975104"/>
            <a:ext cx="2073859" cy="2157984"/>
          </a:xfrm>
          <a:prstGeom prst="roundRect">
            <a:avLst>
              <a:gd name="adj" fmla="val 3527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084832"/>
            <a:ext cx="17080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</a:rPr>
              <a:t>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07792"/>
            <a:ext cx="1708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Required to create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83280"/>
            <a:ext cx="17080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Red asterisk on the form. The record will not save without them.</a:t>
            </a:r>
            <a:endParaRPr lang="en-US" sz="1100" dirty="0"/>
          </a:p>
        </p:txBody>
      </p:sp>
      <p:sp>
        <p:nvSpPr>
          <p:cNvPr id="8" name="stat-1"/>
          <p:cNvSpPr/>
          <p:nvPr/>
        </p:nvSpPr>
        <p:spPr>
          <a:xfrm>
            <a:off x="2805379" y="1975104"/>
            <a:ext cx="2073859" cy="2157984"/>
          </a:xfrm>
          <a:prstGeom prst="roundRect">
            <a:avLst>
              <a:gd name="adj" fmla="val 3527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88259" y="2084832"/>
            <a:ext cx="17080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710"/>
                </a:solidFill>
              </a:rPr>
              <a:t>6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988259" y="2907792"/>
            <a:ext cx="1708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Key fields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88259" y="3383280"/>
            <a:ext cx="17080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Block a stage change until filled. Shown in the Key Fields panel.</a:t>
            </a:r>
            <a:endParaRPr lang="en-US" sz="1100" dirty="0"/>
          </a:p>
        </p:txBody>
      </p:sp>
      <p:sp>
        <p:nvSpPr>
          <p:cNvPr id="12" name="stat-2"/>
          <p:cNvSpPr/>
          <p:nvPr/>
        </p:nvSpPr>
        <p:spPr>
          <a:xfrm>
            <a:off x="5043830" y="1975104"/>
            <a:ext cx="2073859" cy="2157984"/>
          </a:xfrm>
          <a:prstGeom prst="roundRect">
            <a:avLst>
              <a:gd name="adj" fmla="val 3527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26710" y="2084832"/>
            <a:ext cx="17080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7F72"/>
                </a:solidFill>
              </a:rPr>
              <a:t>16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5226710" y="2907792"/>
            <a:ext cx="1708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Filled by the system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26710" y="3383280"/>
            <a:ext cx="17080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Inherited from the RFQ, rolled up from the lines or auto-numbered.</a:t>
            </a:r>
            <a:endParaRPr lang="en-US" sz="1100" dirty="0"/>
          </a:p>
        </p:txBody>
      </p:sp>
      <p:sp>
        <p:nvSpPr>
          <p:cNvPr id="16" name="stat-3"/>
          <p:cNvSpPr/>
          <p:nvPr/>
        </p:nvSpPr>
        <p:spPr>
          <a:xfrm>
            <a:off x="7282282" y="1975104"/>
            <a:ext cx="2073859" cy="2157984"/>
          </a:xfrm>
          <a:prstGeom prst="roundRect">
            <a:avLst>
              <a:gd name="adj" fmla="val 3527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65162" y="2084832"/>
            <a:ext cx="17080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5D50"/>
                </a:solidFill>
              </a:rPr>
              <a:t>3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7465162" y="2907792"/>
            <a:ext cx="1708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Mirrored from account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65162" y="3383280"/>
            <a:ext cx="17080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Read-only copies of the customer master, each with an editable twin.</a:t>
            </a:r>
            <a:endParaRPr lang="en-US" sz="1100" dirty="0"/>
          </a:p>
        </p:txBody>
      </p:sp>
      <p:sp>
        <p:nvSpPr>
          <p:cNvPr id="20" name="stat-4"/>
          <p:cNvSpPr/>
          <p:nvPr/>
        </p:nvSpPr>
        <p:spPr>
          <a:xfrm>
            <a:off x="9520733" y="1975104"/>
            <a:ext cx="2073859" cy="2157984"/>
          </a:xfrm>
          <a:prstGeom prst="roundRect">
            <a:avLst>
              <a:gd name="adj" fmla="val 3527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03613" y="2084832"/>
            <a:ext cx="17080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AA1A8"/>
                </a:solidFill>
              </a:rPr>
              <a:t>84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9703613" y="2907792"/>
            <a:ext cx="1708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Optional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03613" y="3383280"/>
            <a:ext cx="17080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Nothing in the manual makes them mandatory — which is itself a question.</a:t>
            </a:r>
            <a:endParaRPr lang="en-US" sz="1100" dirty="0"/>
          </a:p>
        </p:txBody>
      </p:sp>
      <p:sp>
        <p:nvSpPr>
          <p:cNvPr id="24" name="obj-0"/>
          <p:cNvSpPr/>
          <p:nvPr/>
        </p:nvSpPr>
        <p:spPr>
          <a:xfrm>
            <a:off x="566928" y="4407408"/>
            <a:ext cx="3553968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535424"/>
            <a:ext cx="315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RFQ   </a:t>
            </a:r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9 fields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4882896"/>
            <a:ext cx="315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minimum the system needs. All the detail lives on the quote.</a:t>
            </a:r>
            <a:endParaRPr lang="en-US" sz="1150" dirty="0"/>
          </a:p>
        </p:txBody>
      </p:sp>
      <p:sp>
        <p:nvSpPr>
          <p:cNvPr id="27" name="obj-1"/>
          <p:cNvSpPr/>
          <p:nvPr/>
        </p:nvSpPr>
        <p:spPr>
          <a:xfrm>
            <a:off x="4303776" y="4407408"/>
            <a:ext cx="3553968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04944" y="4535424"/>
            <a:ext cx="315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Quote   </a:t>
            </a:r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91 fields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04944" y="4882896"/>
            <a:ext cx="315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Across eleven sections, from economic agreements to business feasibility.</a:t>
            </a:r>
            <a:endParaRPr lang="en-US" sz="1150" dirty="0"/>
          </a:p>
        </p:txBody>
      </p:sp>
      <p:sp>
        <p:nvSpPr>
          <p:cNvPr id="30" name="obj-2"/>
          <p:cNvSpPr/>
          <p:nvPr/>
        </p:nvSpPr>
        <p:spPr>
          <a:xfrm>
            <a:off x="8040624" y="4407408"/>
            <a:ext cx="3553968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1792" y="4535424"/>
            <a:ext cx="315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Quote Line Item   </a:t>
            </a:r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18 fields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41792" y="4882896"/>
            <a:ext cx="315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Three are mandatory: product, quoted price and annual quantity.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The gates, and the one that isn't documented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Key fields are what actually stops a quote moving. The manual writes them down for one stage out of twelve.</a:t>
            </a:r>
            <a:endParaRPr lang="en-US" sz="1350" dirty="0"/>
          </a:p>
        </p:txBody>
      </p:sp>
      <p:sp>
        <p:nvSpPr>
          <p:cNvPr id="4" name="gate-0"/>
          <p:cNvSpPr/>
          <p:nvPr/>
        </p:nvSpPr>
        <p:spPr>
          <a:xfrm>
            <a:off x="566928" y="1847088"/>
            <a:ext cx="355396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993392"/>
            <a:ext cx="311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710"/>
                </a:solidFill>
              </a:rPr>
              <a:t>Valoration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14016"/>
            <a:ext cx="3115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Application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Project type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OEM Auto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Project number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694176"/>
            <a:ext cx="311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8"/>
                </a:solidFill>
              </a:rPr>
              <a:t>Documented in the manual</a:t>
            </a:r>
            <a:endParaRPr lang="en-US" sz="1050" dirty="0"/>
          </a:p>
        </p:txBody>
      </p:sp>
      <p:sp>
        <p:nvSpPr>
          <p:cNvPr id="8" name="gate-1"/>
          <p:cNvSpPr/>
          <p:nvPr/>
        </p:nvSpPr>
        <p:spPr>
          <a:xfrm>
            <a:off x="4303776" y="1847088"/>
            <a:ext cx="355396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3232" y="1993392"/>
            <a:ext cx="311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C"/>
                </a:solidFill>
              </a:rPr>
              <a:t>Awarded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3232" y="2414016"/>
            <a:ext cx="3115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Contract / LOI / evidence of nomination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plus the document attached under Documents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23232" y="3694176"/>
            <a:ext cx="311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8"/>
                </a:solidFill>
              </a:rPr>
              <a:t>Documented in the manual</a:t>
            </a:r>
            <a:endParaRPr lang="en-US" sz="1050" dirty="0"/>
          </a:p>
        </p:txBody>
      </p:sp>
      <p:sp>
        <p:nvSpPr>
          <p:cNvPr id="12" name="gate-2"/>
          <p:cNvSpPr/>
          <p:nvPr/>
        </p:nvSpPr>
        <p:spPr>
          <a:xfrm>
            <a:off x="8040624" y="1847088"/>
            <a:ext cx="355396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60080" y="1993392"/>
            <a:ext cx="311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7F72"/>
                </a:solidFill>
              </a:rPr>
              <a:t>Closed lost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60080" y="2414016"/>
            <a:ext cx="3115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Lost reason — one of nine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plus a comment, and the free text if “Other”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60080" y="3694176"/>
            <a:ext cx="311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8"/>
                </a:solidFill>
              </a:rPr>
              <a:t>Documented in the manual</a:t>
            </a:r>
            <a:endParaRPr lang="en-US" sz="1050" dirty="0"/>
          </a:p>
        </p:txBody>
      </p:sp>
      <p:sp>
        <p:nvSpPr>
          <p:cNvPr id="16" name="gap"/>
          <p:cNvSpPr/>
          <p:nvPr/>
        </p:nvSpPr>
        <p:spPr>
          <a:xfrm>
            <a:off x="566928" y="4407408"/>
            <a:ext cx="11027664" cy="1097280"/>
          </a:xfrm>
          <a:prstGeom prst="roundRect">
            <a:avLst>
              <a:gd name="adj" fmla="val 6667"/>
            </a:avLst>
          </a:prstGeom>
          <a:solidFill>
            <a:srgbClr val="FBEDEB"/>
          </a:solidFill>
          <a:ln w="9525">
            <a:solidFill>
              <a:srgbClr val="E8BCB6"/>
            </a:solidFill>
            <a:prstDash val="solid"/>
          </a:ln>
        </p:spPr>
      </p:sp>
      <p:sp>
        <p:nvSpPr>
          <p:cNvPr id="17" name="disc-!"/>
          <p:cNvSpPr/>
          <p:nvPr/>
        </p:nvSpPr>
        <p:spPr>
          <a:xfrm>
            <a:off x="841248" y="472744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80560"/>
            <a:ext cx="9930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The other nine stages have key fields too — they are simply not written down.
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People find them by hitting a red error. Reading them off the validation rules and adding them to the manual is half a day of work, and it is the single highest-return item in this review.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What comes from the customer, what you may override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A good design: the quote shows what the account carries, and lets you depart from it on purpose. The problem is that the screen never says which is which.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</a:rPr>
              <a:t>FROM THE CUSTOMER MASTER · READ ONLY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10528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710"/>
                </a:solidFill>
              </a:rPr>
              <a:t>FOR THIS QUOTE · EDITABLE</a:t>
            </a:r>
            <a:endParaRPr lang="en-US" sz="1000" dirty="0"/>
          </a:p>
        </p:txBody>
      </p:sp>
      <p:sp>
        <p:nvSpPr>
          <p:cNvPr id="6" name="m-0"/>
          <p:cNvSpPr/>
          <p:nvPr/>
        </p:nvSpPr>
        <p:spPr>
          <a:xfrm>
            <a:off x="566928" y="2157984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DF2F0"/>
          </a:solidFill>
          <a:ln w="9525">
            <a:solidFill>
              <a:srgbClr val="C6D8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579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Incoterm Account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53328" y="215798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m2-0"/>
          <p:cNvSpPr/>
          <p:nvPr/>
        </p:nvSpPr>
        <p:spPr>
          <a:xfrm>
            <a:off x="6510528" y="2157984"/>
            <a:ext cx="5084064" cy="603504"/>
          </a:xfrm>
          <a:prstGeom prst="roundRect">
            <a:avLst>
              <a:gd name="adj" fmla="val 12121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215798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Incoterm</a:t>
            </a:r>
            <a:endParaRPr lang="en-US" sz="1300" dirty="0"/>
          </a:p>
        </p:txBody>
      </p:sp>
      <p:sp>
        <p:nvSpPr>
          <p:cNvPr id="11" name="m-1"/>
          <p:cNvSpPr/>
          <p:nvPr/>
        </p:nvSpPr>
        <p:spPr>
          <a:xfrm>
            <a:off x="566928" y="2889504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DF2F0"/>
          </a:solidFill>
          <a:ln w="9525">
            <a:solidFill>
              <a:srgbClr val="C6D8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8950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Incoterm Destination Account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53328" y="288950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m2-1"/>
          <p:cNvSpPr/>
          <p:nvPr/>
        </p:nvSpPr>
        <p:spPr>
          <a:xfrm>
            <a:off x="6510528" y="2889504"/>
            <a:ext cx="5084064" cy="603504"/>
          </a:xfrm>
          <a:prstGeom prst="roundRect">
            <a:avLst>
              <a:gd name="adj" fmla="val 12121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288950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Incoterm Location (city)</a:t>
            </a:r>
            <a:endParaRPr lang="en-US" sz="1300" dirty="0"/>
          </a:p>
        </p:txBody>
      </p:sp>
      <p:sp>
        <p:nvSpPr>
          <p:cNvPr id="16" name="m-2"/>
          <p:cNvSpPr/>
          <p:nvPr/>
        </p:nvSpPr>
        <p:spPr>
          <a:xfrm>
            <a:off x="566928" y="3621024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DF2F0"/>
          </a:solidFill>
          <a:ln w="9525">
            <a:solidFill>
              <a:srgbClr val="C6D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6210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 term Account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362102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m2-2"/>
          <p:cNvSpPr/>
          <p:nvPr/>
        </p:nvSpPr>
        <p:spPr>
          <a:xfrm>
            <a:off x="6510528" y="3621024"/>
            <a:ext cx="5084064" cy="603504"/>
          </a:xfrm>
          <a:prstGeom prst="roundRect">
            <a:avLst>
              <a:gd name="adj" fmla="val 12121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36210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 Terms</a:t>
            </a:r>
            <a:endParaRPr lang="en-US" sz="1300" dirty="0"/>
          </a:p>
        </p:txBody>
      </p:sp>
      <p:sp>
        <p:nvSpPr>
          <p:cNvPr id="21" name="m-3"/>
          <p:cNvSpPr/>
          <p:nvPr/>
        </p:nvSpPr>
        <p:spPr>
          <a:xfrm>
            <a:off x="566928" y="4352544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DF2F0"/>
          </a:solidFill>
          <a:ln w="9525">
            <a:solidFill>
              <a:srgbClr val="C6D8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3525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Selling plant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435254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1A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m2-3"/>
          <p:cNvSpPr/>
          <p:nvPr/>
        </p:nvSpPr>
        <p:spPr>
          <a:xfrm>
            <a:off x="6510528" y="4352544"/>
            <a:ext cx="5084064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435254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— set by the child account you chose</a:t>
            </a:r>
            <a:endParaRPr lang="en-US" sz="1300" dirty="0"/>
          </a:p>
        </p:txBody>
      </p:sp>
      <p:sp>
        <p:nvSpPr>
          <p:cNvPr id="26" name="md-note"/>
          <p:cNvSpPr/>
          <p:nvPr/>
        </p:nvSpPr>
        <p:spPr>
          <a:xfrm>
            <a:off x="566928" y="5230368"/>
            <a:ext cx="1102766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5303520"/>
            <a:ext cx="10552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The manual explains this in one sentence, on one slide. 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Nothing on the form marks the mirrored fields as read-only. A new joiner will try to edit “Incoterm Account” and not understand why it won't save. Renaming them — “Incoterm (customer standard)” — costs nothing and changes no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Three things that cost time or money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Found while transcribing the manual. These are the ones worth a decision.</a:t>
            </a:r>
            <a:endParaRPr lang="en-US" sz="1350" dirty="0"/>
          </a:p>
        </p:txBody>
      </p:sp>
      <p:sp>
        <p:nvSpPr>
          <p:cNvPr id="4" name="iss-0"/>
          <p:cNvSpPr/>
          <p:nvPr/>
        </p:nvSpPr>
        <p:spPr>
          <a:xfrm>
            <a:off x="566928" y="1847088"/>
            <a:ext cx="11027664" cy="1335024"/>
          </a:xfrm>
          <a:prstGeom prst="roundRect">
            <a:avLst>
              <a:gd name="adj" fmla="val 5479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5" name="disc-1"/>
          <p:cNvSpPr/>
          <p:nvPr/>
        </p:nvSpPr>
        <p:spPr>
          <a:xfrm>
            <a:off x="859536" y="226771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0299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Key fields documented for one stage in twelve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42316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manual says “there are some fields required to pass to each stage”, then shows only the Valoration set. For the other eleven, people learn by trial and error.</a:t>
            </a:r>
            <a:endParaRPr lang="en-US" sz="1200" dirty="0"/>
          </a:p>
        </p:txBody>
      </p:sp>
      <p:sp>
        <p:nvSpPr>
          <p:cNvPr id="9" name="fix-0"/>
          <p:cNvSpPr/>
          <p:nvPr/>
        </p:nvSpPr>
        <p:spPr>
          <a:xfrm>
            <a:off x="8394192" y="2121408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58784" y="2121408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Read them off the validation rules · half a day</a:t>
            </a:r>
            <a:endParaRPr lang="en-US" sz="1150" dirty="0"/>
          </a:p>
        </p:txBody>
      </p:sp>
      <p:sp>
        <p:nvSpPr>
          <p:cNvPr id="11" name="iss-1"/>
          <p:cNvSpPr/>
          <p:nvPr/>
        </p:nvSpPr>
        <p:spPr>
          <a:xfrm>
            <a:off x="566928" y="3364992"/>
            <a:ext cx="11027664" cy="1335024"/>
          </a:xfrm>
          <a:prstGeom prst="roundRect">
            <a:avLst>
              <a:gd name="adj" fmla="val 5479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2" name="disc-2"/>
          <p:cNvSpPr/>
          <p:nvPr/>
        </p:nvSpPr>
        <p:spPr>
          <a:xfrm>
            <a:off x="859536" y="378561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Project number blocks Valoration and appears on no screen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394106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is in the Key Fields panel and in the quote header, but in none of the detail screenshots. Someone following the manual cannot find where to type it.</a:t>
            </a:r>
            <a:endParaRPr lang="en-US" sz="1200" dirty="0"/>
          </a:p>
        </p:txBody>
      </p:sp>
      <p:sp>
        <p:nvSpPr>
          <p:cNvPr id="16" name="fix-1"/>
          <p:cNvSpPr/>
          <p:nvPr/>
        </p:nvSpPr>
        <p:spPr>
          <a:xfrm>
            <a:off x="8394192" y="3639312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58784" y="3639312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Locate it and add it to the manual · one hour</a:t>
            </a:r>
            <a:endParaRPr lang="en-US" sz="1150" dirty="0"/>
          </a:p>
        </p:txBody>
      </p:sp>
      <p:sp>
        <p:nvSpPr>
          <p:cNvPr id="18" name="iss-2"/>
          <p:cNvSpPr/>
          <p:nvPr/>
        </p:nvSpPr>
        <p:spPr>
          <a:xfrm>
            <a:off x="566928" y="4882896"/>
            <a:ext cx="11027664" cy="1335024"/>
          </a:xfrm>
          <a:prstGeom prst="roundRect">
            <a:avLst>
              <a:gd name="adj" fmla="val 5479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  <a:effectLst>
            <a:outerShdw sx="100000" sy="100000" kx="0" ky="0" algn="bl" rotWithShape="0" blurRad="127000" dist="25400" dir="5400000">
              <a:srgbClr val="14181C">
                <a:alpha val="7000"/>
              </a:srgbClr>
            </a:outerShdw>
          </a:effectLst>
        </p:spPr>
      </p:sp>
      <p:sp>
        <p:nvSpPr>
          <p:cNvPr id="19" name="disc-3"/>
          <p:cNvSpPr/>
          <p:nvPr/>
        </p:nvSpPr>
        <p:spPr>
          <a:xfrm>
            <a:off x="859536" y="5303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499616" y="50657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A missing minimum price turns the price control off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99616" y="545896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manual states it plainly: with no minimum price the value counts as zero and any price passes approval. No warning, no trace.</a:t>
            </a:r>
            <a:endParaRPr lang="en-US" sz="1200" dirty="0"/>
          </a:p>
        </p:txBody>
      </p:sp>
      <p:sp>
        <p:nvSpPr>
          <p:cNvPr id="23" name="fix-2"/>
          <p:cNvSpPr/>
          <p:nvPr/>
        </p:nvSpPr>
        <p:spPr>
          <a:xfrm>
            <a:off x="8394192" y="5157216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FF1EB"/>
          </a:solidFill>
          <a:ln w="9525">
            <a:solidFill>
              <a:srgbClr val="F8C9B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58784" y="515721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710"/>
                </a:solidFill>
              </a:rPr>
              <a:t>Count the quoted codes with no minimum · one query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81C"/>
                </a:solidFill>
              </a:rPr>
              <a:t>Nine more, cheap to fix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789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248"/>
                </a:solidFill>
              </a:rPr>
              <a:t>None of these stops anyone working. Two of them are visible to customers.</a:t>
            </a:r>
            <a:endParaRPr lang="en-US" sz="1350" dirty="0"/>
          </a:p>
        </p:txBody>
      </p:sp>
      <p:sp>
        <p:nvSpPr>
          <p:cNvPr id="4" name="n-0"/>
          <p:cNvSpPr/>
          <p:nvPr/>
        </p:nvSpPr>
        <p:spPr>
          <a:xfrm>
            <a:off x="566928" y="1847088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993392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probabilities, no rule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50592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RFQ has Probability (%); the quote has 25 / 50 / 75 / 90 in the stage name. Which one feeds the forecast?</a:t>
            </a:r>
            <a:endParaRPr lang="en-US" sz="1100" dirty="0"/>
          </a:p>
        </p:txBody>
      </p:sp>
      <p:sp>
        <p:nvSpPr>
          <p:cNvPr id="7" name="n-1"/>
          <p:cNvSpPr/>
          <p:nvPr/>
        </p:nvSpPr>
        <p:spPr>
          <a:xfrm>
            <a:off x="4303776" y="1847088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4944" y="1993392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boxes for the lost reason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04944" y="2450592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“Other lost reason” and “Lost reason comments”. Reporting on losses has to read both.</a:t>
            </a:r>
            <a:endParaRPr lang="en-US" sz="1100" dirty="0"/>
          </a:p>
        </p:txBody>
      </p:sp>
      <p:sp>
        <p:nvSpPr>
          <p:cNvPr id="10" name="n-2"/>
          <p:cNvSpPr/>
          <p:nvPr/>
        </p:nvSpPr>
        <p:spPr>
          <a:xfrm>
            <a:off x="8040624" y="1847088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1792" y="1993392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Competitor is free text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41792" y="2450592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Exactly the field you want to group by later. It will carry every spelling of every name.</a:t>
            </a:r>
            <a:endParaRPr lang="en-US" sz="1100" dirty="0"/>
          </a:p>
        </p:txBody>
      </p:sp>
      <p:sp>
        <p:nvSpPr>
          <p:cNvPr id="13" name="n-3"/>
          <p:cNvSpPr/>
          <p:nvPr/>
        </p:nvSpPr>
        <p:spPr>
          <a:xfrm>
            <a:off x="566928" y="3346704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493008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Incoterm location is free text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950208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problem, on a field that prints on the customer quotation.</a:t>
            </a:r>
            <a:endParaRPr lang="en-US" sz="1100" dirty="0"/>
          </a:p>
        </p:txBody>
      </p:sp>
      <p:sp>
        <p:nvSpPr>
          <p:cNvPr id="16" name="n-4"/>
          <p:cNvSpPr/>
          <p:nvPr/>
        </p:nvSpPr>
        <p:spPr>
          <a:xfrm>
            <a:off x="4303776" y="3346704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4944" y="3493008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Four requirements, one detail box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04944" y="3950208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Quality, technical, logistic and packaging each have a checkbox but share one notes field.</a:t>
            </a:r>
            <a:endParaRPr lang="en-US" sz="1100" dirty="0"/>
          </a:p>
        </p:txBody>
      </p:sp>
      <p:sp>
        <p:nvSpPr>
          <p:cNvPr id="19" name="n-5"/>
          <p:cNvSpPr/>
          <p:nvPr/>
        </p:nvSpPr>
        <p:spPr>
          <a:xfrm>
            <a:off x="8040624" y="3346704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1792" y="3493008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UK decimal note reads backwards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41792" y="3950208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“English UK will use point per thousands and comma for decimals” is the Continental convention. It prints on quotations.</a:t>
            </a:r>
            <a:endParaRPr lang="en-US" sz="1100" dirty="0"/>
          </a:p>
        </p:txBody>
      </p:sp>
      <p:sp>
        <p:nvSpPr>
          <p:cNvPr id="22" name="n-6"/>
          <p:cNvSpPr/>
          <p:nvPr/>
        </p:nvSpPr>
        <p:spPr>
          <a:xfrm>
            <a:off x="566928" y="4846320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992624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Misspelled field labels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5449824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Proyect Information · Economic Agrements · Comissions · Cheked with Tecom · Bussines feasibility.</a:t>
            </a:r>
            <a:endParaRPr lang="en-US" sz="1100" dirty="0"/>
          </a:p>
        </p:txBody>
      </p:sp>
      <p:sp>
        <p:nvSpPr>
          <p:cNvPr id="25" name="n-7"/>
          <p:cNvSpPr/>
          <p:nvPr/>
        </p:nvSpPr>
        <p:spPr>
          <a:xfrm>
            <a:off x="4303776" y="4846320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04944" y="4992624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quote per RFQ is a rule, not a constraint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04944" y="5449824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Salesforce will take several. Reporting that assumes one-to-one can quietly drift.</a:t>
            </a:r>
            <a:endParaRPr lang="en-US" sz="1100" dirty="0"/>
          </a:p>
        </p:txBody>
      </p:sp>
      <p:sp>
        <p:nvSpPr>
          <p:cNvPr id="28" name="n-8"/>
          <p:cNvSpPr/>
          <p:nvPr/>
        </p:nvSpPr>
        <p:spPr>
          <a:xfrm>
            <a:off x="8040624" y="4846320"/>
            <a:ext cx="3553968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E4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1792" y="4992624"/>
            <a:ext cx="315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Nobody is named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41792" y="5449824"/>
            <a:ext cx="315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manual mentions Tecom, DACs and operations but never says who fills what.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1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512064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are asking for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2252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8AEB4"/>
                </a:solidFill>
              </a:rPr>
              <a:t>Three decisions and one owner. Everything else follows from them.</a:t>
            </a:r>
            <a:endParaRPr lang="en-US" sz="1350" dirty="0"/>
          </a:p>
        </p:txBody>
      </p:sp>
      <p:sp>
        <p:nvSpPr>
          <p:cNvPr id="4" name="ask-0"/>
          <p:cNvSpPr/>
          <p:nvPr/>
        </p:nvSpPr>
        <p:spPr>
          <a:xfrm>
            <a:off x="566928" y="2103120"/>
            <a:ext cx="3529584" cy="2377440"/>
          </a:xfrm>
          <a:prstGeom prst="roundRect">
            <a:avLst>
              <a:gd name="adj" fmla="val 3077"/>
            </a:avLst>
          </a:prstGeom>
          <a:solidFill>
            <a:srgbClr val="1F252B"/>
          </a:solidFill>
          <a:ln w="9525">
            <a:solidFill>
              <a:srgbClr val="2E363E"/>
            </a:solidFill>
            <a:prstDash val="solid"/>
          </a:ln>
        </p:spPr>
      </p:sp>
      <p:sp>
        <p:nvSpPr>
          <p:cNvPr id="5" name="disc-1"/>
          <p:cNvSpPr/>
          <p:nvPr/>
        </p:nvSpPr>
        <p:spPr>
          <a:xfrm>
            <a:off x="804672" y="2322576"/>
            <a:ext cx="420624" cy="420624"/>
          </a:xfrm>
          <a:prstGeom prst="ellipse">
            <a:avLst/>
          </a:prstGeom>
          <a:solidFill>
            <a:srgbClr val="FF5710"/>
          </a:solidFill>
          <a:ln w="12700">
            <a:solidFill>
              <a:srgbClr val="FF57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Complete the key fields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36499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EB4"/>
                </a:solidFill>
              </a:rPr>
              <a:t>Document what blocks each of the twelve stages, from the validation rules, and put it in the next version of the manual.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1330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5710"/>
                </a:solidFill>
              </a:rPr>
              <a:t>Digital · half a day</a:t>
            </a:r>
            <a:endParaRPr lang="en-US" sz="1050" dirty="0"/>
          </a:p>
        </p:txBody>
      </p:sp>
      <p:sp>
        <p:nvSpPr>
          <p:cNvPr id="10" name="ask-1"/>
          <p:cNvSpPr/>
          <p:nvPr/>
        </p:nvSpPr>
        <p:spPr>
          <a:xfrm>
            <a:off x="4315968" y="2103120"/>
            <a:ext cx="3529584" cy="2377440"/>
          </a:xfrm>
          <a:prstGeom prst="roundRect">
            <a:avLst>
              <a:gd name="adj" fmla="val 3077"/>
            </a:avLst>
          </a:prstGeom>
          <a:solidFill>
            <a:srgbClr val="1F252B"/>
          </a:solidFill>
          <a:ln w="9525">
            <a:solidFill>
              <a:srgbClr val="2E363E"/>
            </a:solidFill>
            <a:prstDash val="solid"/>
          </a:ln>
        </p:spPr>
      </p:sp>
      <p:sp>
        <p:nvSpPr>
          <p:cNvPr id="11" name="disc-2"/>
          <p:cNvSpPr/>
          <p:nvPr/>
        </p:nvSpPr>
        <p:spPr>
          <a:xfrm>
            <a:off x="4553712" y="2322576"/>
            <a:ext cx="420624" cy="420624"/>
          </a:xfrm>
          <a:prstGeom prst="ellipse">
            <a:avLst/>
          </a:prstGeom>
          <a:solidFill>
            <a:srgbClr val="FF5710"/>
          </a:solidFill>
          <a:ln w="12700">
            <a:solidFill>
              <a:srgbClr val="FF57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Decide on the minimum price gap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36499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EB4"/>
                </a:solidFill>
              </a:rPr>
              <a:t>Either every quoted code carries a minimum, or we accept that some pass the control unchecked — but it should be a decision, not a side effect.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1330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5710"/>
                </a:solidFill>
              </a:rPr>
              <a:t>Commercial · your call</a:t>
            </a:r>
            <a:endParaRPr lang="en-US" sz="1050" dirty="0"/>
          </a:p>
        </p:txBody>
      </p:sp>
      <p:sp>
        <p:nvSpPr>
          <p:cNvPr id="16" name="ask-2"/>
          <p:cNvSpPr/>
          <p:nvPr/>
        </p:nvSpPr>
        <p:spPr>
          <a:xfrm>
            <a:off x="8065008" y="2103120"/>
            <a:ext cx="3529584" cy="2377440"/>
          </a:xfrm>
          <a:prstGeom prst="roundRect">
            <a:avLst>
              <a:gd name="adj" fmla="val 3077"/>
            </a:avLst>
          </a:prstGeom>
          <a:solidFill>
            <a:srgbClr val="1F252B"/>
          </a:solidFill>
          <a:ln w="9525">
            <a:solidFill>
              <a:srgbClr val="2E363E"/>
            </a:solidFill>
            <a:prstDash val="solid"/>
          </a:ln>
        </p:spPr>
      </p:sp>
      <p:sp>
        <p:nvSpPr>
          <p:cNvPr id="17" name="disc-3"/>
          <p:cNvSpPr/>
          <p:nvPr/>
        </p:nvSpPr>
        <p:spPr>
          <a:xfrm>
            <a:off x="8302752" y="2322576"/>
            <a:ext cx="420624" cy="420624"/>
          </a:xfrm>
          <a:prstGeom prst="ellipse">
            <a:avLst/>
          </a:prstGeom>
          <a:solidFill>
            <a:srgbClr val="FF5710"/>
          </a:solidFill>
          <a:ln w="12700">
            <a:solidFill>
              <a:srgbClr val="FF571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Name an owner per field group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336499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EB4"/>
                </a:solidFill>
              </a:rPr>
              <a:t>Commercial, Tecom, DACs, operations. The manual names the teams but never says who fills what.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1330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5710"/>
                </a:solidFill>
              </a:rPr>
              <a:t>Regional Director · your call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791456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4"/>
                </a:solidFill>
              </a:rPr>
              <a:t>The full field reference </a:t>
            </a:r>
            <a:pPr indent="0" marL="0">
              <a:buNone/>
            </a:pPr>
            <a:r>
              <a:rPr lang="en-US" sz="1300" dirty="0">
                <a:solidFill>
                  <a:srgbClr val="7A828A"/>
                </a:solidFill>
              </a:rPr>
              <a:t>— all 118 fields, filterable by object and by what must be filled — </a:t>
            </a:r>
            <a:pPr indent="0" marL="0">
              <a:buNone/>
            </a:pPr>
            <a:r>
              <a:rPr lang="en-US" sz="1300" dirty="0">
                <a:solidFill>
                  <a:srgbClr val="A8AEB4"/>
                </a:solidFill>
              </a:rPr>
              <a:t>comes with this deck as a web page and a spreadsheet.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978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B"/>
                </a:solidFill>
              </a:rPr>
              <a:t>Compiled from the v3 training manual only. It has not been compared against the Salesforce configuration — the org almost certainly enforces more than the manual documents.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ats">
  <a:themeElements>
    <a:clrScheme name="Relats">
      <a:dk1>
        <a:srgbClr val="14181C"/>
      </a:dk1>
      <a:lt1>
        <a:srgbClr val="FFFFFF"/>
      </a:lt1>
      <a:dk2>
        <a:srgbClr val="3A4248"/>
      </a:dk2>
      <a:lt2>
        <a:srgbClr val="F4F1EC"/>
      </a:lt2>
      <a:accent1>
        <a:srgbClr val="FF5710"/>
      </a:accent1>
      <a:accent2>
        <a:srgbClr val="1F7A5C"/>
      </a:accent2>
      <a:accent3>
        <a:srgbClr val="C98A00"/>
      </a:accent3>
      <a:accent4>
        <a:srgbClr val="C0392B"/>
      </a:accent4>
      <a:accent5>
        <a:srgbClr val="2F5D50"/>
      </a:accent5>
      <a:accent6>
        <a:srgbClr val="8A7F72"/>
      </a:accent6>
      <a:hlink>
        <a:srgbClr val="FF5710"/>
      </a:hlink>
      <a:folHlink>
        <a:srgbClr val="8A7F72"/>
      </a:folHlink>
    </a:clrScheme>
    <a:fontScheme name="Rela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Relats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RFQ &amp; Quotes in Salesforce</dc:title>
  <dc:subject>Field reference and open points from the v3 training manual</dc:subject>
  <dc:creator>Relats · Digital</dc:creator>
  <cp:lastModifiedBy>Relats · Digital</cp:lastModifiedBy>
  <cp:revision>1</cp:revision>
  <dcterms:created xsi:type="dcterms:W3CDTF">2026-10-19T14:48:09Z</dcterms:created>
  <dcterms:modified xsi:type="dcterms:W3CDTF">2026-10-19T14:48:09Z</dcterms:modified>
</cp:coreProperties>
</file>